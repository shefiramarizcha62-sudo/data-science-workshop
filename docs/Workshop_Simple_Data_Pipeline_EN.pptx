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a826486-182e-e372-eea7-5a0c87513af3}">
          <p14:sldIdLst>
            <p14:sldId id="256"/>
            <p14:sldId id="257"/>
            <p14:sldId id="258"/>
            <p14:sldId id="259"/>
            <p14:sldId id="260"/>
            <p14:sldId id="261"/>
            <p14:sldId id="262"/>
            <p14:sldId id="263"/>
            <p14:sldId id="264"/>
          </p14:sldIdLst>
        </p14:section>
        <p14:section name="Concepts" id="{35131ee4-8938-62ed-59c8-fbe46935ac97}">
          <p14:sldIdLst>
            <p14:sldId id="265"/>
            <p14:sldId id="266"/>
            <p14:sldId id="267"/>
            <p14:sldId id="268"/>
          </p14:sldIdLst>
        </p14:section>
        <p14:section name="Extract" id="{bb125857-0b10-4e26-e1f4-4a2938a5eeca}">
          <p14:sldIdLst>
            <p14:sldId id="269"/>
            <p14:sldId id="270"/>
          </p14:sldIdLst>
        </p14:section>
        <p14:section name="Transform" id="{c6ae5315-784c-f528-b735-d1ea81c37be5}">
          <p14:sldIdLst>
            <p14:sldId id="271"/>
            <p14:sldId id="272"/>
            <p14:sldId id="273"/>
          </p14:sldIdLst>
        </p14:section>
        <p14:section name="Load" id="{ffc71377-c903-43b2-01d5-d3d1081804f9}">
          <p14:sldIdLst>
            <p14:sldId id="274"/>
            <p14:sldId id="275"/>
          </p14:sldIdLst>
        </p14:section>
        <p14:section name="SQL &amp; Dashboard" id="{42deaf2f-59fd-f639-aa41-bc96cbf7683f}">
          <p14:sldIdLst>
            <p14:sldId id="276"/>
            <p14:sldId id="277"/>
          </p14:sldIdLst>
        </p14:section>
        <p14:section name="Wrap-up" id="{071fd2bd-0328-0470-8490-3ebbf6588fce}">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B2A"/>
                </a:solidFill>
                <a:latin typeface="+mn-lt"/>
              </a:defRPr>
            </a:pPr>
            <a:r>
              <a:rPr sz="1200" b="0" i="0" u="none" strike="noStrike">
                <a:solidFill>
                  <a:srgbClr val="0B2B2A"/>
                </a:solidFill>
                <a:latin typeface="+mn-lt"/>
              </a:rPr>
              <a:t>Revenue by city, Q1 2026 (IDR million)</a:t>
            </a:r>
          </a:p>
        </c:rich>
      </c:tx>
      <c:layout/>
      <c:overlay val="0"/>
    </c:title>
    <c:autoTitleDeleted val="0"/>
    <c:plotArea>
      <c:layout/>
      <c:barChart>
        <c:barDir val="bar"/>
        <c:grouping val="clustered"/>
        <c:varyColors val="0"/>
        <c:ser>
          <c:idx val="0"/>
          <c:order val="0"/>
          <c:tx>
            <c:strRef>
              <c:f>Sheet1!$B$1</c:f>
              <c:strCache>
                <c:ptCount val="1"/>
                <c:pt idx="0">
                  <c:v>Revenue (jt)</c:v>
                </c:pt>
              </c:strCache>
            </c:strRef>
          </c:tx>
          <c:spPr>
            <a:solidFill>
              <a:srgbClr val="14B8A6"/>
            </a:solidFill>
            <a:effectLst/>
          </c:spPr>
          <c:invertIfNegative val="0"/>
          <c:dLbls>
            <c:numFmt formatCode="0.0" sourceLinked="0"/>
            <c:txPr>
              <a:bodyPr/>
              <a:lstStyle/>
              <a:p>
                <a:pPr>
                  <a:defRPr b="0" i="0" strike="noStrike" sz="1000" u="none">
                    <a:solidFill>
                      <a:srgbClr val="0B2B2A"/>
                    </a:solidFill>
                    <a:latin typeface="+mn-lt"/>
                  </a:defRPr>
                </a:pPr>
              </a:p>
            </c:txPr>
            <c:showLegendKey val="0"/>
            <c:showVal val="1"/>
            <c:showCatName val="0"/>
            <c:showSerName val="0"/>
            <c:showPercent val="0"/>
            <c:showBubbleSize val="0"/>
            <c:showLeaderLines val="0"/>
          </c:dLbls>
          <c:cat>
            <c:multiLvlStrRef>
              <c:f>Sheet1!$A$2:$A$6</c:f>
              <c:multiLvlStrCache>
                <c:ptCount val="5"/>
                <c:lvl>
                  <c:pt idx="0">
                    <c:v>Surabaya</c:v>
                  </c:pt>
                  <c:pt idx="1">
                    <c:v>Malang</c:v>
                  </c:pt>
                  <c:pt idx="2">
                    <c:v>Sidoarjo</c:v>
                  </c:pt>
                  <c:pt idx="3">
                    <c:v>Batu</c:v>
                  </c:pt>
                  <c:pt idx="4">
                    <c:v>Pasuruan</c:v>
                  </c:pt>
                </c:lvl>
              </c:multiLvlStrCache>
            </c:multiLvlStrRef>
          </c:cat>
          <c:val>
            <c:numRef>
              <c:f>Sheet1!$B$2:$B$6</c:f>
              <c:numCache>
                <c:formatCode>General</c:formatCode>
                <c:ptCount val="5"/>
                <c:pt idx="0">
                  <c:v>58.85</c:v>
                </c:pt>
                <c:pt idx="1">
                  <c:v>35.7</c:v>
                </c:pt>
                <c:pt idx="2">
                  <c:v>24.5</c:v>
                </c:pt>
                <c:pt idx="3">
                  <c:v>17.05</c:v>
                </c:pt>
                <c:pt idx="4">
                  <c:v>10.25</c:v>
                </c:pt>
              </c:numCache>
            </c:numRef>
          </c:val>
        </c:ser>
        <c:dLbls>
          <c:numFmt formatCode="0.0" sourceLinked="0"/>
          <c:txPr>
            <a:bodyPr/>
            <a:lstStyle/>
            <a:p>
              <a:pPr>
                <a:defRPr b="0" i="0" strike="noStrike" sz="1000" u="none">
                  <a:solidFill>
                    <a:srgbClr val="0B2B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6A"/>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B2A"/>
                </a:solidFill>
                <a:latin typeface="+mn-lt"/>
              </a:defRPr>
            </a:pPr>
            <a:r>
              <a:rPr sz="1200" b="0" i="0" u="none" strike="noStrike">
                <a:solidFill>
                  <a:srgbClr val="0B2B2A"/>
                </a:solidFill>
                <a:latin typeface="+mn-lt"/>
              </a:rPr>
              <a:t>Monthly revenue (IDR million)</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F766E"/>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Jan</c:v>
                  </c:pt>
                  <c:pt idx="1">
                    <c:v>Feb</c:v>
                  </c:pt>
                  <c:pt idx="2">
                    <c:v>Mar</c:v>
                  </c:pt>
                </c:lvl>
              </c:multiLvlStrCache>
            </c:multiLvlStrRef>
          </c:cat>
          <c:val>
            <c:numRef>
              <c:f>Sheet1!$B$2:$B$4</c:f>
              <c:numCache>
                <c:formatCode>General</c:formatCode>
                <c:ptCount val="3"/>
                <c:pt idx="0">
                  <c:v>35.85</c:v>
                </c:pt>
                <c:pt idx="1">
                  <c:v>51.8</c:v>
                </c:pt>
                <c:pt idx="2">
                  <c:v>58.7</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B2A"/>
                </a:solidFill>
                <a:latin typeface="+mn-lt"/>
              </a:defRPr>
            </a:pPr>
            <a:r>
              <a:rPr sz="1200" b="0" i="0" u="none" strike="noStrike">
                <a:solidFill>
                  <a:srgbClr val="0B2B2A"/>
                </a:solidFill>
                <a:latin typeface="+mn-lt"/>
              </a:rPr>
              <a:t>Revenue by category</a:t>
            </a:r>
          </a:p>
        </c:rich>
      </c:tx>
      <c:layout/>
      <c:overlay val="0"/>
    </c:title>
    <c:autoTitleDeleted val="0"/>
    <c:plotArea>
      <c:layout/>
      <c:doughnutChart>
        <c:varyColors val="1"/>
        <c:ser>
          <c:idx val="0"/>
          <c:order val="0"/>
          <c:tx>
            <c:strRef>
              <c:f>Sheet1!$B$1</c:f>
              <c:strCache>
                <c:ptCount val="1"/>
                <c:pt idx="0">
                  <c:v>Kategori</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F59E0B"/>
              </a:solidFill>
              <a:effectLst/>
            </c:spPr>
          </c:dPt>
          <c:dPt>
            <c:idx val="2"/>
            <c:bubble3D val="0"/>
            <c:spPr>
              <a:solidFill>
                <a:srgbClr val="94A3B8"/>
              </a:solidFill>
              <a:effectLst/>
            </c:spPr>
          </c:dPt>
          <c:dLbls>
            <c:dLbl>
              <c:idx val="0"/>
              <c:numFmt formatCode="0%" sourceLinked="0"/>
              <c:spPr/>
              <c:txPr>
                <a:bodyPr/>
                <a:lstStyle/>
                <a:p>
                  <a:pPr>
                    <a:defRPr sz="10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Internet</c:v>
                </c:pt>
                <c:pt idx="1">
                  <c:v>Devices</c:v>
                </c:pt>
                <c:pt idx="2">
                  <c:v>Services</c:v>
                </c:pt>
              </c:strCache>
            </c:strRef>
          </c:cat>
          <c:val>
            <c:numRef>
              <c:f>Sheet1!$B$2:$B$4</c:f>
              <c:numCache>
                <c:ptCount val="3"/>
                <c:pt idx="0">
                  <c:v>88.85</c:v>
                </c:pt>
                <c:pt idx="1">
                  <c:v>38.55</c:v>
                </c:pt>
                <c:pt idx="2">
                  <c:v>18.95</c:v>
                </c:pt>
              </c:numCache>
            </c:numRef>
          </c:val>
        </c:ser>
        <c:firstSliceAng val="0"/>
        <c:holeSize val="55"/>
      </c:doughnutChart>
      <c:spPr>
        <a:noFill/>
        <a:ln>
          <a:noFill/>
        </a:ln>
        <a:effectLst/>
      </c:spPr>
    </c:plotArea>
    <c:legend>
      <c:legendPos val="r"/>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a fully hands-on session: every participant builds their own pipeline, from the API all the way to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share real-world experience: data scattered across applications and why reliable pipelines matter. Adapt to your own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list must be installed BEFORE Saturday 17 October. There is no installation session on the day. Participants who cannot install locally use GitHub Codespaces, which gives the same VS Code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complete the setup guide at least one day before (H-1) and send a screenshot of the connection test. This saves the first 30 minutes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pre-workshop briefing. The readiness report pushed to each fork lets the trainer verify everyone with rekap_kesiapan.py before the day. Timeline: first report Thursday 15 October 21.00, online consultation Friday 16 October, final deadline Friday 21.00. Anyone still failing after the consultation switches to Codespaces.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were pushed to the upstream repo on Saturday morning. Everyone syncs their fork and pulls. This takes about three minutes and doubles as the first Git exercise of the day. If Sync fork reports a conflict, the participant most likely edited README.md; have them choose Discard changes on GitHub, then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Day-of opener. Everyone already has VS Code set up, so this is orientation only. After the sync slide, open notebooks/00_Step_by_Step_Notebook.ipynb and select the .venv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served as static JSON pages straight from the GitHub repo, so no API server is needed. An optional FastAPI server lives in api/ for anyone who wants a real ?page= API. Stress raise_for_status and the CSV fallback: real-world sources do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Dashboard_Template_Preview.html and demo Looker Studio. Principle: KPIs on top, trend in the middle, details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82F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lstStyle>
            <a:lvl1pPr algn="l" indent="0" marL="0">
              <a:buNone/>
              <a:defRPr lang="en-US" sz="1800" dirty="0">
                <a:solidFill>
                  <a:srgbClr val="A7F3D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766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lvl1pPr algn="l" indent="0" marL="0">
              <a:buNone/>
              <a:defRPr lang="en-US" sz="1800" dirty="0">
                <a:solidFill>
                  <a:srgbClr val="CCFBF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CFBF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457200" y="4773168"/>
            <a:ext cx="4572000" cy="274320"/>
          </a:xfrm>
          <a:prstGeom prst="rect">
            <a:avLst/>
          </a:prstGeom>
          <a:noFill/>
          <a:ln/>
        </p:spPr>
        <p:txBody>
          <a:bodyPr wrap="square" rtlCol="0" anchor="ctr"/>
          <a:lstStyle/>
          <a:p>
            <a:pPr indent="0" marL="0">
              <a:buNone/>
            </a:pPr>
            <a:r>
              <a:rPr lang="en-US" sz="900" dirty="0">
                <a:solidFill>
                  <a:srgbClr val="94A3B8"/>
                </a:solidFill>
              </a:rPr>
              <a:t>Simple Data Pipeline Workshop</a:t>
            </a:r>
            <a:endParaRPr lang="en-US" sz="9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CFBF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4.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Building a Simple Data Pipeline</a:t>
            </a: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nchor="t"/>
          <a:lstStyle/>
          <a:p>
            <a:pPr algn="l" indent="0" marL="0">
              <a:buNone/>
            </a:pPr>
            <a:r>
              <a:rPr lang="en-US" sz="1800" dirty="0">
                <a:solidFill>
                  <a:srgbClr val="A7F3D0"/>
                </a:solidFill>
              </a:rPr>
              <a:t>From API to Dashboard — hands-on with Python, PostgreSQL &amp; SQL</a:t>
            </a:r>
            <a:endParaRPr lang="en-US" sz="1800" dirty="0"/>
          </a:p>
        </p:txBody>
      </p:sp>
      <p:sp>
        <p:nvSpPr>
          <p:cNvPr id="4" name="Shape 2"/>
          <p:cNvSpPr/>
          <p:nvPr/>
        </p:nvSpPr>
        <p:spPr>
          <a:xfrm>
            <a:off x="548640" y="502920"/>
            <a:ext cx="502920" cy="502920"/>
          </a:xfrm>
          <a:prstGeom prst="ellipse">
            <a:avLst/>
          </a:prstGeom>
          <a:solidFill>
            <a:srgbClr val="0F766E"/>
          </a:solidFill>
          <a:ln w="12700">
            <a:solidFill>
              <a:srgbClr val="0F766E"/>
            </a:solidFill>
            <a:prstDash val="solid"/>
          </a:ln>
        </p:spPr>
      </p:sp>
      <p:pic>
        <p:nvPicPr>
          <p:cNvPr id="5" name="Image 0" descr="preencoded.png">    </p:cNvPr>
          <p:cNvPicPr>
            <a:picLocks noChangeAspect="1"/>
          </p:cNvPicPr>
          <p:nvPr/>
        </p:nvPicPr>
        <p:blipFill>
          <a:blip r:embed="rId1"/>
          <a:stretch>
            <a:fillRect/>
          </a:stretch>
        </p:blipFill>
        <p:spPr>
          <a:xfrm>
            <a:off x="674370" y="628650"/>
            <a:ext cx="251460" cy="251460"/>
          </a:xfrm>
          <a:prstGeom prst="rect">
            <a:avLst/>
          </a:prstGeom>
        </p:spPr>
      </p:pic>
      <p:sp>
        <p:nvSpPr>
          <p:cNvPr id="6" name="Shape 3"/>
          <p:cNvSpPr/>
          <p:nvPr/>
        </p:nvSpPr>
        <p:spPr>
          <a:xfrm>
            <a:off x="1234440" y="502920"/>
            <a:ext cx="502920" cy="502920"/>
          </a:xfrm>
          <a:prstGeom prst="ellipse">
            <a:avLst/>
          </a:prstGeom>
          <a:solidFill>
            <a:srgbClr val="0F766E"/>
          </a:solidFill>
          <a:ln w="12700">
            <a:solidFill>
              <a:srgbClr val="0F766E"/>
            </a:solidFill>
            <a:prstDash val="solid"/>
          </a:ln>
        </p:spPr>
      </p:sp>
      <p:pic>
        <p:nvPicPr>
          <p:cNvPr id="7" name="Image 1" descr="preencoded.png">    </p:cNvPr>
          <p:cNvPicPr>
            <a:picLocks noChangeAspect="1"/>
          </p:cNvPicPr>
          <p:nvPr/>
        </p:nvPicPr>
        <p:blipFill>
          <a:blip r:embed="rId2"/>
          <a:stretch>
            <a:fillRect/>
          </a:stretch>
        </p:blipFill>
        <p:spPr>
          <a:xfrm>
            <a:off x="1360170" y="628650"/>
            <a:ext cx="251460" cy="251460"/>
          </a:xfrm>
          <a:prstGeom prst="rect">
            <a:avLst/>
          </a:prstGeom>
        </p:spPr>
      </p:pic>
      <p:sp>
        <p:nvSpPr>
          <p:cNvPr id="8" name="Shape 4"/>
          <p:cNvSpPr/>
          <p:nvPr/>
        </p:nvSpPr>
        <p:spPr>
          <a:xfrm>
            <a:off x="1920240" y="502920"/>
            <a:ext cx="502920" cy="502920"/>
          </a:xfrm>
          <a:prstGeom prst="ellipse">
            <a:avLst/>
          </a:prstGeom>
          <a:solidFill>
            <a:srgbClr val="0F766E"/>
          </a:solidFill>
          <a:ln w="12700">
            <a:solidFill>
              <a:srgbClr val="0F766E"/>
            </a:solidFill>
            <a:prstDash val="solid"/>
          </a:ln>
        </p:spPr>
      </p:sp>
      <p:pic>
        <p:nvPicPr>
          <p:cNvPr id="9" name="Image 2" descr="preencoded.png">    </p:cNvPr>
          <p:cNvPicPr>
            <a:picLocks noChangeAspect="1"/>
          </p:cNvPicPr>
          <p:nvPr/>
        </p:nvPicPr>
        <p:blipFill>
          <a:blip r:embed="rId3"/>
          <a:stretch>
            <a:fillRect/>
          </a:stretch>
        </p:blipFill>
        <p:spPr>
          <a:xfrm>
            <a:off x="2045970" y="628650"/>
            <a:ext cx="251460" cy="251460"/>
          </a:xfrm>
          <a:prstGeom prst="rect">
            <a:avLst/>
          </a:prstGeom>
        </p:spPr>
      </p:pic>
      <p:sp>
        <p:nvSpPr>
          <p:cNvPr id="10" name="Shape 5"/>
          <p:cNvSpPr/>
          <p:nvPr/>
        </p:nvSpPr>
        <p:spPr>
          <a:xfrm>
            <a:off x="2606040" y="502920"/>
            <a:ext cx="502920" cy="502920"/>
          </a:xfrm>
          <a:prstGeom prst="ellipse">
            <a:avLst/>
          </a:prstGeom>
          <a:solidFill>
            <a:srgbClr val="0F766E"/>
          </a:solidFill>
          <a:ln w="12700">
            <a:solidFill>
              <a:srgbClr val="0F766E"/>
            </a:solidFill>
            <a:prstDash val="solid"/>
          </a:ln>
        </p:spPr>
      </p:sp>
      <p:pic>
        <p:nvPicPr>
          <p:cNvPr id="11" name="Image 3" descr="preencoded.png">    </p:cNvPr>
          <p:cNvPicPr>
            <a:picLocks noChangeAspect="1"/>
          </p:cNvPicPr>
          <p:nvPr/>
        </p:nvPicPr>
        <p:blipFill>
          <a:blip r:embed="rId4"/>
          <a:stretch>
            <a:fillRect/>
          </a:stretch>
        </p:blipFill>
        <p:spPr>
          <a:xfrm>
            <a:off x="2731770" y="628650"/>
            <a:ext cx="251460" cy="251460"/>
          </a:xfrm>
          <a:prstGeom prst="rect">
            <a:avLst/>
          </a:prstGeom>
        </p:spPr>
      </p:pic>
      <p:sp>
        <p:nvSpPr>
          <p:cNvPr id="12" name="Shape 6"/>
          <p:cNvSpPr/>
          <p:nvPr/>
        </p:nvSpPr>
        <p:spPr>
          <a:xfrm>
            <a:off x="3291840" y="502920"/>
            <a:ext cx="502920" cy="502920"/>
          </a:xfrm>
          <a:prstGeom prst="ellipse">
            <a:avLst/>
          </a:prstGeom>
          <a:solidFill>
            <a:srgbClr val="0F766E"/>
          </a:solidFill>
          <a:ln w="12700">
            <a:solidFill>
              <a:srgbClr val="0F766E"/>
            </a:solidFill>
            <a:prstDash val="solid"/>
          </a:ln>
        </p:spPr>
      </p:sp>
      <p:pic>
        <p:nvPicPr>
          <p:cNvPr id="13" name="Image 4" descr="preencoded.png">    </p:cNvPr>
          <p:cNvPicPr>
            <a:picLocks noChangeAspect="1"/>
          </p:cNvPicPr>
          <p:nvPr/>
        </p:nvPicPr>
        <p:blipFill>
          <a:blip r:embed="rId5"/>
          <a:stretch>
            <a:fillRect/>
          </a:stretch>
        </p:blipFill>
        <p:spPr>
          <a:xfrm>
            <a:off x="3417570" y="628650"/>
            <a:ext cx="251460" cy="251460"/>
          </a:xfrm>
          <a:prstGeom prst="rect">
            <a:avLst/>
          </a:prstGeom>
        </p:spPr>
      </p:pic>
      <p:sp>
        <p:nvSpPr>
          <p:cNvPr id="14" name="Text 7"/>
          <p:cNvSpPr txBox="1"/>
          <p:nvPr/>
        </p:nvSpPr>
        <p:spPr>
          <a:xfrm>
            <a:off x="548640" y="4206240"/>
            <a:ext cx="7315200" cy="365760"/>
          </a:xfrm>
          <a:prstGeom prst="rect">
            <a:avLst/>
          </a:prstGeom>
          <a:noFill/>
          <a:ln/>
        </p:spPr>
        <p:txBody>
          <a:bodyPr wrap="square" lIns="0" tIns="0" rIns="0" bIns="0" rtlCol="0" anchor="t"/>
          <a:lstStyle/>
          <a:p>
            <a:pPr indent="0" marL="0">
              <a:buNone/>
            </a:pPr>
            <a:r>
              <a:rPr lang="en-US" sz="1400" dirty="0">
                <a:solidFill>
                  <a:srgbClr val="CCFBF1"/>
                </a:solidFill>
                <a:latin typeface="Calibri" pitchFamily="34" charset="0"/>
                <a:ea typeface="Calibri" pitchFamily="34" charset="-122"/>
                <a:cs typeface="Calibri" pitchFamily="34" charset="-120"/>
              </a:rPr>
              <a:t>Speaker: Aisah  ·  Data Engineer &amp; Analyst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About the Speaker</a:t>
            </a:r>
            <a:endParaRPr lang="en-US" sz="2800" dirty="0"/>
          </a:p>
        </p:txBody>
      </p:sp>
      <p:sp>
        <p:nvSpPr>
          <p:cNvPr id="3" name="Shape 1"/>
          <p:cNvSpPr/>
          <p:nvPr/>
        </p:nvSpPr>
        <p:spPr>
          <a:xfrm>
            <a:off x="640080" y="1325880"/>
            <a:ext cx="1463040" cy="1463040"/>
          </a:xfrm>
          <a:prstGeom prst="ellipse">
            <a:avLst/>
          </a:prstGeom>
          <a:solidFill>
            <a:srgbClr val="F1F6F6"/>
          </a:solidFill>
          <a:ln w="12700">
            <a:solidFill>
              <a:srgbClr val="F1F6F6"/>
            </a:solidFill>
            <a:prstDash val="solid"/>
          </a:ln>
        </p:spPr>
      </p:sp>
      <p:pic>
        <p:nvPicPr>
          <p:cNvPr id="4" name="Image 0" descr="preencoded.png">    </p:cNvPr>
          <p:cNvPicPr>
            <a:picLocks noChangeAspect="1"/>
          </p:cNvPicPr>
          <p:nvPr/>
        </p:nvPicPr>
        <p:blipFill>
          <a:blip r:embed="rId1"/>
          <a:stretch>
            <a:fillRect/>
          </a:stretch>
        </p:blipFill>
        <p:spPr>
          <a:xfrm>
            <a:off x="1005840" y="1691640"/>
            <a:ext cx="731520" cy="731520"/>
          </a:xfrm>
          <a:prstGeom prst="rect">
            <a:avLst/>
          </a:prstGeom>
        </p:spPr>
      </p:pic>
      <p:sp>
        <p:nvSpPr>
          <p:cNvPr id="5" name="Text 2"/>
          <p:cNvSpPr txBox="1"/>
          <p:nvPr/>
        </p:nvSpPr>
        <p:spPr>
          <a:xfrm>
            <a:off x="457200" y="2926080"/>
            <a:ext cx="1828800" cy="365760"/>
          </a:xfrm>
          <a:prstGeom prst="rect">
            <a:avLst/>
          </a:prstGeom>
          <a:noFill/>
          <a:ln/>
        </p:spPr>
        <p:txBody>
          <a:bodyPr wrap="square" lIns="0" tIns="0" rIns="0" bIns="0" rtlCol="0" anchor="t"/>
          <a:lstStyle/>
          <a:p>
            <a:pPr algn="ctr" indent="0" marL="0">
              <a:buNone/>
            </a:pPr>
            <a:r>
              <a:rPr lang="en-US" sz="2000" b="1" dirty="0">
                <a:solidFill>
                  <a:srgbClr val="0B2B2A"/>
                </a:solidFill>
                <a:latin typeface="Arial" pitchFamily="34" charset="0"/>
                <a:ea typeface="Arial" pitchFamily="34" charset="-122"/>
                <a:cs typeface="Arial" pitchFamily="34" charset="-120"/>
              </a:rPr>
              <a:t>Aisah</a:t>
            </a:r>
            <a:endParaRPr lang="en-US" sz="2000" dirty="0"/>
          </a:p>
        </p:txBody>
      </p:sp>
      <p:sp>
        <p:nvSpPr>
          <p:cNvPr id="6" name="Text 3"/>
          <p:cNvSpPr txBox="1"/>
          <p:nvPr/>
        </p:nvSpPr>
        <p:spPr>
          <a:xfrm>
            <a:off x="274320" y="3291840"/>
            <a:ext cx="2194560" cy="274320"/>
          </a:xfrm>
          <a:prstGeom prst="rect">
            <a:avLst/>
          </a:prstGeom>
          <a:noFill/>
          <a:ln/>
        </p:spPr>
        <p:txBody>
          <a:bodyPr wrap="square" lIns="0" tIns="0" rIns="0" bIns="0" rtlCol="0" anchor="t"/>
          <a:lstStyle/>
          <a:p>
            <a:pPr algn="ctr" indent="0" marL="0">
              <a:buNone/>
            </a:pPr>
            <a:r>
              <a:rPr lang="en-US" sz="1200" dirty="0">
                <a:solidFill>
                  <a:srgbClr val="5B6B6A"/>
                </a:solidFill>
                <a:latin typeface="Calibri" pitchFamily="34" charset="0"/>
                <a:ea typeface="Calibri" pitchFamily="34" charset="-122"/>
                <a:cs typeface="Calibri" pitchFamily="34" charset="-120"/>
              </a:rPr>
              <a:t>Data Engineer &amp; Analyst</a:t>
            </a:r>
            <a:endParaRPr lang="en-US" sz="1200" dirty="0"/>
          </a:p>
        </p:txBody>
      </p:sp>
      <p:sp>
        <p:nvSpPr>
          <p:cNvPr id="7" name="Shape 4"/>
          <p:cNvSpPr/>
          <p:nvPr/>
        </p:nvSpPr>
        <p:spPr>
          <a:xfrm>
            <a:off x="2926080" y="1188720"/>
            <a:ext cx="5760720" cy="914400"/>
          </a:xfrm>
          <a:prstGeom prst="roundRect">
            <a:avLst>
              <a:gd name="adj" fmla="val 12000"/>
            </a:avLst>
          </a:prstGeom>
          <a:solidFill>
            <a:srgbClr val="F1F6F6"/>
          </a:solidFill>
          <a:ln w="12700">
            <a:solidFill>
              <a:srgbClr val="F1F6F6"/>
            </a:solidFill>
            <a:prstDash val="solid"/>
          </a:ln>
        </p:spPr>
      </p:sp>
      <p:sp>
        <p:nvSpPr>
          <p:cNvPr id="8" name="Text 5"/>
          <p:cNvSpPr txBox="1"/>
          <p:nvPr/>
        </p:nvSpPr>
        <p:spPr>
          <a:xfrm>
            <a:off x="3154680" y="1298448"/>
            <a:ext cx="5394960" cy="32004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Data integration</a:t>
            </a:r>
            <a:endParaRPr lang="en-US" sz="1600" dirty="0"/>
          </a:p>
        </p:txBody>
      </p:sp>
      <p:sp>
        <p:nvSpPr>
          <p:cNvPr id="9" name="Text 6"/>
          <p:cNvSpPr txBox="1"/>
          <p:nvPr/>
        </p:nvSpPr>
        <p:spPr>
          <a:xfrm>
            <a:off x="3154680" y="1627632"/>
            <a:ext cx="5394960" cy="41148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Unifying data from multiple applications and network systems into a single source of truth</a:t>
            </a:r>
            <a:endParaRPr lang="en-US" sz="1300" dirty="0"/>
          </a:p>
        </p:txBody>
      </p:sp>
      <p:sp>
        <p:nvSpPr>
          <p:cNvPr id="10" name="Shape 7"/>
          <p:cNvSpPr/>
          <p:nvPr/>
        </p:nvSpPr>
        <p:spPr>
          <a:xfrm>
            <a:off x="2926080" y="2286000"/>
            <a:ext cx="5760720" cy="914400"/>
          </a:xfrm>
          <a:prstGeom prst="roundRect">
            <a:avLst>
              <a:gd name="adj" fmla="val 12000"/>
            </a:avLst>
          </a:prstGeom>
          <a:solidFill>
            <a:srgbClr val="F1F6F6"/>
          </a:solidFill>
          <a:ln w="12700">
            <a:solidFill>
              <a:srgbClr val="F1F6F6"/>
            </a:solidFill>
            <a:prstDash val="solid"/>
          </a:ln>
        </p:spPr>
      </p:sp>
      <p:sp>
        <p:nvSpPr>
          <p:cNvPr id="11" name="Text 8"/>
          <p:cNvSpPr txBox="1"/>
          <p:nvPr/>
        </p:nvSpPr>
        <p:spPr>
          <a:xfrm>
            <a:off x="3154680" y="2395728"/>
            <a:ext cx="5394960" cy="32004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Pipeline automation</a:t>
            </a:r>
            <a:endParaRPr lang="en-US" sz="1600" dirty="0"/>
          </a:p>
        </p:txBody>
      </p:sp>
      <p:sp>
        <p:nvSpPr>
          <p:cNvPr id="12" name="Text 9"/>
          <p:cNvSpPr txBox="1"/>
          <p:nvPr/>
        </p:nvSpPr>
        <p:spPr>
          <a:xfrm>
            <a:off x="3154680" y="2724912"/>
            <a:ext cx="5394960" cy="41148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Daily pipelines with Python, APIs, and PostgreSQL databases</a:t>
            </a:r>
            <a:endParaRPr lang="en-US" sz="1300" dirty="0"/>
          </a:p>
        </p:txBody>
      </p:sp>
      <p:sp>
        <p:nvSpPr>
          <p:cNvPr id="13" name="Shape 10"/>
          <p:cNvSpPr/>
          <p:nvPr/>
        </p:nvSpPr>
        <p:spPr>
          <a:xfrm>
            <a:off x="2926080" y="3383280"/>
            <a:ext cx="5760720" cy="914400"/>
          </a:xfrm>
          <a:prstGeom prst="roundRect">
            <a:avLst>
              <a:gd name="adj" fmla="val 12000"/>
            </a:avLst>
          </a:prstGeom>
          <a:solidFill>
            <a:srgbClr val="F1F6F6"/>
          </a:solidFill>
          <a:ln w="12700">
            <a:solidFill>
              <a:srgbClr val="F1F6F6"/>
            </a:solidFill>
            <a:prstDash val="solid"/>
          </a:ln>
        </p:spPr>
      </p:sp>
      <p:sp>
        <p:nvSpPr>
          <p:cNvPr id="14" name="Text 11"/>
          <p:cNvSpPr txBox="1"/>
          <p:nvPr/>
        </p:nvSpPr>
        <p:spPr>
          <a:xfrm>
            <a:off x="3154680" y="3493008"/>
            <a:ext cx="5394960" cy="320040"/>
          </a:xfrm>
          <a:prstGeom prst="rect">
            <a:avLst/>
          </a:prstGeom>
          <a:noFill/>
          <a:ln/>
        </p:spPr>
        <p:txBody>
          <a:bodyPr wrap="square" lIns="0" tIns="0" rIns="0" bIns="0" rtlCol="0" anchor="t"/>
          <a:lstStyle/>
          <a:p>
            <a:pPr indent="0" marL="0">
              <a:buNone/>
            </a:pPr>
            <a:r>
              <a:rPr lang="en-US" sz="1600" b="1" dirty="0">
                <a:solidFill>
                  <a:srgbClr val="0F766E"/>
                </a:solidFill>
                <a:latin typeface="Calibri" pitchFamily="34" charset="0"/>
                <a:ea typeface="Calibri" pitchFamily="34" charset="-122"/>
                <a:cs typeface="Calibri" pitchFamily="34" charset="-120"/>
              </a:rPr>
              <a:t>BI &amp; dashboards</a:t>
            </a:r>
            <a:endParaRPr lang="en-US" sz="1600" dirty="0"/>
          </a:p>
        </p:txBody>
      </p:sp>
      <p:sp>
        <p:nvSpPr>
          <p:cNvPr id="15" name="Text 12"/>
          <p:cNvSpPr txBox="1"/>
          <p:nvPr/>
        </p:nvSpPr>
        <p:spPr>
          <a:xfrm>
            <a:off x="3154680" y="3822192"/>
            <a:ext cx="5394960" cy="41148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Monitoring dashboards for operations teams and management</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Today's Agenda</a:t>
            </a:r>
            <a:endParaRPr lang="en-US" sz="2800" dirty="0"/>
          </a:p>
        </p:txBody>
      </p:sp>
      <p:sp>
        <p:nvSpPr>
          <p:cNvPr id="3" name="Shape 1"/>
          <p:cNvSpPr/>
          <p:nvPr/>
        </p:nvSpPr>
        <p:spPr>
          <a:xfrm>
            <a:off x="822960" y="2331720"/>
            <a:ext cx="7680960" cy="0"/>
          </a:xfrm>
          <a:prstGeom prst="line">
            <a:avLst/>
          </a:prstGeom>
          <a:noFill/>
          <a:ln w="25400">
            <a:solidFill>
              <a:srgbClr val="94A3B8"/>
            </a:solidFill>
            <a:prstDash val="solid"/>
          </a:ln>
        </p:spPr>
      </p:sp>
      <p:sp>
        <p:nvSpPr>
          <p:cNvPr id="4" name="Shape 2"/>
          <p:cNvSpPr/>
          <p:nvPr/>
        </p:nvSpPr>
        <p:spPr>
          <a:xfrm>
            <a:off x="731520" y="2194560"/>
            <a:ext cx="274320" cy="274320"/>
          </a:xfrm>
          <a:prstGeom prst="ellipse">
            <a:avLst/>
          </a:prstGeom>
          <a:solidFill>
            <a:srgbClr val="0F766E"/>
          </a:solidFill>
          <a:ln w="25400">
            <a:solidFill>
              <a:srgbClr val="FFFFFF"/>
            </a:solidFill>
            <a:prstDash val="solid"/>
          </a:ln>
        </p:spPr>
      </p:sp>
      <p:sp>
        <p:nvSpPr>
          <p:cNvPr id="5" name="Text 3"/>
          <p:cNvSpPr txBox="1"/>
          <p:nvPr/>
        </p:nvSpPr>
        <p:spPr>
          <a:xfrm>
            <a:off x="45720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08.30</a:t>
            </a:r>
            <a:endParaRPr lang="en-US" sz="1500" dirty="0"/>
          </a:p>
        </p:txBody>
      </p:sp>
      <p:sp>
        <p:nvSpPr>
          <p:cNvPr id="6" name="Text 4"/>
          <p:cNvSpPr txBox="1"/>
          <p:nvPr/>
        </p:nvSpPr>
        <p:spPr>
          <a:xfrm>
            <a:off x="43891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VS Code tour &amp; concepts</a:t>
            </a:r>
            <a:endParaRPr lang="en-US" sz="1150" dirty="0"/>
          </a:p>
        </p:txBody>
      </p:sp>
      <p:sp>
        <p:nvSpPr>
          <p:cNvPr id="7" name="Shape 5"/>
          <p:cNvSpPr/>
          <p:nvPr/>
        </p:nvSpPr>
        <p:spPr>
          <a:xfrm>
            <a:off x="1737360" y="2194560"/>
            <a:ext cx="274320" cy="274320"/>
          </a:xfrm>
          <a:prstGeom prst="ellipse">
            <a:avLst/>
          </a:prstGeom>
          <a:solidFill>
            <a:srgbClr val="0F766E"/>
          </a:solidFill>
          <a:ln w="25400">
            <a:solidFill>
              <a:srgbClr val="FFFFFF"/>
            </a:solidFill>
            <a:prstDash val="solid"/>
          </a:ln>
        </p:spPr>
      </p:sp>
      <p:sp>
        <p:nvSpPr>
          <p:cNvPr id="8" name="Text 6"/>
          <p:cNvSpPr txBox="1"/>
          <p:nvPr/>
        </p:nvSpPr>
        <p:spPr>
          <a:xfrm>
            <a:off x="146304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09.00</a:t>
            </a:r>
            <a:endParaRPr lang="en-US" sz="1500" dirty="0"/>
          </a:p>
        </p:txBody>
      </p:sp>
      <p:sp>
        <p:nvSpPr>
          <p:cNvPr id="9" name="Text 7"/>
          <p:cNvSpPr txBox="1"/>
          <p:nvPr/>
        </p:nvSpPr>
        <p:spPr>
          <a:xfrm>
            <a:off x="144475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Exercise 1 · Extract</a:t>
            </a:r>
            <a:endParaRPr lang="en-US" sz="1150" dirty="0"/>
          </a:p>
        </p:txBody>
      </p:sp>
      <p:sp>
        <p:nvSpPr>
          <p:cNvPr id="10" name="Shape 8"/>
          <p:cNvSpPr/>
          <p:nvPr/>
        </p:nvSpPr>
        <p:spPr>
          <a:xfrm>
            <a:off x="2743200" y="2194560"/>
            <a:ext cx="274320" cy="274320"/>
          </a:xfrm>
          <a:prstGeom prst="ellipse">
            <a:avLst/>
          </a:prstGeom>
          <a:solidFill>
            <a:srgbClr val="0F766E"/>
          </a:solidFill>
          <a:ln w="25400">
            <a:solidFill>
              <a:srgbClr val="FFFFFF"/>
            </a:solidFill>
            <a:prstDash val="solid"/>
          </a:ln>
        </p:spPr>
      </p:sp>
      <p:sp>
        <p:nvSpPr>
          <p:cNvPr id="11" name="Text 9"/>
          <p:cNvSpPr txBox="1"/>
          <p:nvPr/>
        </p:nvSpPr>
        <p:spPr>
          <a:xfrm>
            <a:off x="246888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09.45</a:t>
            </a:r>
            <a:endParaRPr lang="en-US" sz="1500" dirty="0"/>
          </a:p>
        </p:txBody>
      </p:sp>
      <p:sp>
        <p:nvSpPr>
          <p:cNvPr id="12" name="Text 10"/>
          <p:cNvSpPr txBox="1"/>
          <p:nvPr/>
        </p:nvSpPr>
        <p:spPr>
          <a:xfrm>
            <a:off x="245059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Exercise 2 · Transform</a:t>
            </a:r>
            <a:endParaRPr lang="en-US" sz="1150" dirty="0"/>
          </a:p>
        </p:txBody>
      </p:sp>
      <p:sp>
        <p:nvSpPr>
          <p:cNvPr id="13" name="Shape 11"/>
          <p:cNvSpPr/>
          <p:nvPr/>
        </p:nvSpPr>
        <p:spPr>
          <a:xfrm>
            <a:off x="3749040" y="2194560"/>
            <a:ext cx="274320" cy="274320"/>
          </a:xfrm>
          <a:prstGeom prst="ellipse">
            <a:avLst/>
          </a:prstGeom>
          <a:solidFill>
            <a:srgbClr val="0F766E"/>
          </a:solidFill>
          <a:ln w="25400">
            <a:solidFill>
              <a:srgbClr val="FFFFFF"/>
            </a:solidFill>
            <a:prstDash val="solid"/>
          </a:ln>
        </p:spPr>
      </p:sp>
      <p:sp>
        <p:nvSpPr>
          <p:cNvPr id="14" name="Text 12"/>
          <p:cNvSpPr txBox="1"/>
          <p:nvPr/>
        </p:nvSpPr>
        <p:spPr>
          <a:xfrm>
            <a:off x="347472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10.45</a:t>
            </a:r>
            <a:endParaRPr lang="en-US" sz="1500" dirty="0"/>
          </a:p>
        </p:txBody>
      </p:sp>
      <p:sp>
        <p:nvSpPr>
          <p:cNvPr id="15" name="Text 13"/>
          <p:cNvSpPr txBox="1"/>
          <p:nvPr/>
        </p:nvSpPr>
        <p:spPr>
          <a:xfrm>
            <a:off x="345643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Exercise 3 · Load</a:t>
            </a:r>
            <a:endParaRPr lang="en-US" sz="1150" dirty="0"/>
          </a:p>
        </p:txBody>
      </p:sp>
      <p:sp>
        <p:nvSpPr>
          <p:cNvPr id="16" name="Shape 14"/>
          <p:cNvSpPr/>
          <p:nvPr/>
        </p:nvSpPr>
        <p:spPr>
          <a:xfrm>
            <a:off x="4754880" y="2194560"/>
            <a:ext cx="274320" cy="274320"/>
          </a:xfrm>
          <a:prstGeom prst="ellipse">
            <a:avLst/>
          </a:prstGeom>
          <a:solidFill>
            <a:srgbClr val="0F766E"/>
          </a:solidFill>
          <a:ln w="25400">
            <a:solidFill>
              <a:srgbClr val="FFFFFF"/>
            </a:solidFill>
            <a:prstDash val="solid"/>
          </a:ln>
        </p:spPr>
      </p:sp>
      <p:sp>
        <p:nvSpPr>
          <p:cNvPr id="17" name="Text 15"/>
          <p:cNvSpPr txBox="1"/>
          <p:nvPr/>
        </p:nvSpPr>
        <p:spPr>
          <a:xfrm>
            <a:off x="448056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11.30</a:t>
            </a:r>
            <a:endParaRPr lang="en-US" sz="1500" dirty="0"/>
          </a:p>
        </p:txBody>
      </p:sp>
      <p:sp>
        <p:nvSpPr>
          <p:cNvPr id="18" name="Text 16"/>
          <p:cNvSpPr txBox="1"/>
          <p:nvPr/>
        </p:nvSpPr>
        <p:spPr>
          <a:xfrm>
            <a:off x="446227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Exercise 4 · SQL</a:t>
            </a:r>
            <a:endParaRPr lang="en-US" sz="1150" dirty="0"/>
          </a:p>
        </p:txBody>
      </p:sp>
      <p:sp>
        <p:nvSpPr>
          <p:cNvPr id="19" name="Shape 17"/>
          <p:cNvSpPr/>
          <p:nvPr/>
        </p:nvSpPr>
        <p:spPr>
          <a:xfrm>
            <a:off x="5760720" y="2194560"/>
            <a:ext cx="274320" cy="274320"/>
          </a:xfrm>
          <a:prstGeom prst="ellipse">
            <a:avLst/>
          </a:prstGeom>
          <a:solidFill>
            <a:srgbClr val="0F766E"/>
          </a:solidFill>
          <a:ln w="25400">
            <a:solidFill>
              <a:srgbClr val="FFFFFF"/>
            </a:solidFill>
            <a:prstDash val="solid"/>
          </a:ln>
        </p:spPr>
      </p:sp>
      <p:sp>
        <p:nvSpPr>
          <p:cNvPr id="20" name="Text 18"/>
          <p:cNvSpPr txBox="1"/>
          <p:nvPr/>
        </p:nvSpPr>
        <p:spPr>
          <a:xfrm>
            <a:off x="548640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13.00</a:t>
            </a:r>
            <a:endParaRPr lang="en-US" sz="1500" dirty="0"/>
          </a:p>
        </p:txBody>
      </p:sp>
      <p:sp>
        <p:nvSpPr>
          <p:cNvPr id="21" name="Text 19"/>
          <p:cNvSpPr txBox="1"/>
          <p:nvPr/>
        </p:nvSpPr>
        <p:spPr>
          <a:xfrm>
            <a:off x="546811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Exercise 5 · Dashboard</a:t>
            </a:r>
            <a:endParaRPr lang="en-US" sz="1150" dirty="0"/>
          </a:p>
        </p:txBody>
      </p:sp>
      <p:sp>
        <p:nvSpPr>
          <p:cNvPr id="22" name="Shape 20"/>
          <p:cNvSpPr/>
          <p:nvPr/>
        </p:nvSpPr>
        <p:spPr>
          <a:xfrm>
            <a:off x="6766560" y="2194560"/>
            <a:ext cx="274320" cy="274320"/>
          </a:xfrm>
          <a:prstGeom prst="ellipse">
            <a:avLst/>
          </a:prstGeom>
          <a:solidFill>
            <a:srgbClr val="F59E0B"/>
          </a:solidFill>
          <a:ln w="25400">
            <a:solidFill>
              <a:srgbClr val="FFFFFF"/>
            </a:solidFill>
            <a:prstDash val="solid"/>
          </a:ln>
        </p:spPr>
      </p:sp>
      <p:sp>
        <p:nvSpPr>
          <p:cNvPr id="23" name="Text 21"/>
          <p:cNvSpPr txBox="1"/>
          <p:nvPr/>
        </p:nvSpPr>
        <p:spPr>
          <a:xfrm>
            <a:off x="649224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13.45</a:t>
            </a:r>
            <a:endParaRPr lang="en-US" sz="1500" dirty="0"/>
          </a:p>
        </p:txBody>
      </p:sp>
      <p:sp>
        <p:nvSpPr>
          <p:cNvPr id="24" name="Text 22"/>
          <p:cNvSpPr txBox="1"/>
          <p:nvPr/>
        </p:nvSpPr>
        <p:spPr>
          <a:xfrm>
            <a:off x="647395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Mini project</a:t>
            </a:r>
            <a:endParaRPr lang="en-US" sz="1150" dirty="0"/>
          </a:p>
        </p:txBody>
      </p:sp>
      <p:sp>
        <p:nvSpPr>
          <p:cNvPr id="25" name="Shape 23"/>
          <p:cNvSpPr/>
          <p:nvPr/>
        </p:nvSpPr>
        <p:spPr>
          <a:xfrm>
            <a:off x="7772400" y="2194560"/>
            <a:ext cx="274320" cy="274320"/>
          </a:xfrm>
          <a:prstGeom prst="ellipse">
            <a:avLst/>
          </a:prstGeom>
          <a:solidFill>
            <a:srgbClr val="0F766E"/>
          </a:solidFill>
          <a:ln w="25400">
            <a:solidFill>
              <a:srgbClr val="FFFFFF"/>
            </a:solidFill>
            <a:prstDash val="solid"/>
          </a:ln>
        </p:spPr>
      </p:sp>
      <p:sp>
        <p:nvSpPr>
          <p:cNvPr id="26" name="Text 24"/>
          <p:cNvSpPr txBox="1"/>
          <p:nvPr/>
        </p:nvSpPr>
        <p:spPr>
          <a:xfrm>
            <a:off x="7498080" y="1600200"/>
            <a:ext cx="868680" cy="365760"/>
          </a:xfrm>
          <a:prstGeom prst="rect">
            <a:avLst/>
          </a:prstGeom>
          <a:noFill/>
          <a:ln/>
        </p:spPr>
        <p:txBody>
          <a:bodyPr wrap="square" lIns="0" tIns="0" rIns="0" bIns="0" rtlCol="0" anchor="t"/>
          <a:lstStyle/>
          <a:p>
            <a:pPr algn="ctr" indent="0" marL="0">
              <a:buNone/>
            </a:pPr>
            <a:r>
              <a:rPr lang="en-US" sz="1500" b="1" dirty="0">
                <a:solidFill>
                  <a:srgbClr val="0F766E"/>
                </a:solidFill>
                <a:latin typeface="Arial" pitchFamily="34" charset="0"/>
                <a:ea typeface="Arial" pitchFamily="34" charset="-122"/>
                <a:cs typeface="Arial" pitchFamily="34" charset="-120"/>
              </a:rPr>
              <a:t>14.45</a:t>
            </a:r>
            <a:endParaRPr lang="en-US" sz="1500" dirty="0"/>
          </a:p>
        </p:txBody>
      </p:sp>
      <p:sp>
        <p:nvSpPr>
          <p:cNvPr id="27" name="Text 25"/>
          <p:cNvSpPr txBox="1"/>
          <p:nvPr/>
        </p:nvSpPr>
        <p:spPr>
          <a:xfrm>
            <a:off x="7479792" y="2697480"/>
            <a:ext cx="914400" cy="822960"/>
          </a:xfrm>
          <a:prstGeom prst="rect">
            <a:avLst/>
          </a:prstGeom>
          <a:noFill/>
          <a:ln/>
        </p:spPr>
        <p:txBody>
          <a:bodyPr wrap="square" lIns="0" tIns="0" rIns="0" bIns="0" rtlCol="0" anchor="t"/>
          <a:lstStyle/>
          <a:p>
            <a:pPr algn="ctr" indent="0" marL="0">
              <a:buNone/>
            </a:pPr>
            <a:r>
              <a:rPr lang="en-US" sz="1150" dirty="0">
                <a:solidFill>
                  <a:srgbClr val="0B2B2A"/>
                </a:solidFill>
                <a:latin typeface="Calibri" pitchFamily="34" charset="0"/>
                <a:ea typeface="Calibri" pitchFamily="34" charset="-122"/>
                <a:cs typeface="Calibri" pitchFamily="34" charset="-120"/>
              </a:rPr>
              <a:t>Presentations &amp; closing</a:t>
            </a:r>
            <a:endParaRPr lang="en-US" sz="1150" dirty="0"/>
          </a:p>
        </p:txBody>
      </p:sp>
      <p:sp>
        <p:nvSpPr>
          <p:cNvPr id="28" name="Shape 26"/>
          <p:cNvSpPr/>
          <p:nvPr/>
        </p:nvSpPr>
        <p:spPr>
          <a:xfrm>
            <a:off x="457200" y="3794760"/>
            <a:ext cx="8229600" cy="685800"/>
          </a:xfrm>
          <a:prstGeom prst="roundRect">
            <a:avLst>
              <a:gd name="adj" fmla="val 16000"/>
            </a:avLst>
          </a:prstGeom>
          <a:solidFill>
            <a:srgbClr val="FFF7E6"/>
          </a:solidFill>
          <a:ln w="12700">
            <a:solidFill>
              <a:srgbClr val="FFF7E6"/>
            </a:solidFill>
            <a:prstDash val="solid"/>
          </a:ln>
        </p:spPr>
      </p:sp>
      <p:sp>
        <p:nvSpPr>
          <p:cNvPr id="29" name="Text 27"/>
          <p:cNvSpPr txBox="1"/>
          <p:nvPr/>
        </p:nvSpPr>
        <p:spPr>
          <a:xfrm>
            <a:off x="685800" y="3977640"/>
            <a:ext cx="7772400" cy="36576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Breaks: 10.30–10.45 and 12.15–13.00 · Schedule may adjust to the pace of the class</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By the end of this workshop, you can…</a:t>
            </a:r>
            <a:endParaRPr lang="en-US" sz="2800" dirty="0"/>
          </a:p>
        </p:txBody>
      </p:sp>
      <p:sp>
        <p:nvSpPr>
          <p:cNvPr id="3" name="Shape 1"/>
          <p:cNvSpPr/>
          <p:nvPr/>
        </p:nvSpPr>
        <p:spPr>
          <a:xfrm>
            <a:off x="457200" y="1188720"/>
            <a:ext cx="2606040" cy="1508760"/>
          </a:xfrm>
          <a:prstGeom prst="roundRect">
            <a:avLst>
              <a:gd name="adj" fmla="val 7273"/>
            </a:avLst>
          </a:prstGeom>
          <a:solidFill>
            <a:srgbClr val="F1F6F6"/>
          </a:solidFill>
          <a:ln w="12700">
            <a:solidFill>
              <a:srgbClr val="F1F6F6"/>
            </a:solidFill>
            <a:prstDash val="solid"/>
          </a:ln>
        </p:spPr>
      </p:sp>
      <p:sp>
        <p:nvSpPr>
          <p:cNvPr id="4" name="Shape 2"/>
          <p:cNvSpPr/>
          <p:nvPr/>
        </p:nvSpPr>
        <p:spPr>
          <a:xfrm>
            <a:off x="640080" y="1417320"/>
            <a:ext cx="548640" cy="548640"/>
          </a:xfrm>
          <a:prstGeom prst="ellipse">
            <a:avLst/>
          </a:prstGeom>
          <a:solidFill>
            <a:srgbClr val="0F766E"/>
          </a:solidFill>
          <a:ln w="12700">
            <a:solidFill>
              <a:srgbClr val="0F766E"/>
            </a:solidFill>
            <a:prstDash val="solid"/>
          </a:ln>
        </p:spPr>
      </p:sp>
      <p:pic>
        <p:nvPicPr>
          <p:cNvPr id="5"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6" name="Text 3"/>
          <p:cNvSpPr txBox="1"/>
          <p:nvPr/>
        </p:nvSpPr>
        <p:spPr>
          <a:xfrm>
            <a:off x="640080" y="2057400"/>
            <a:ext cx="228600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Extract data from an API</a:t>
            </a:r>
            <a:endParaRPr lang="en-US" sz="1400" dirty="0"/>
          </a:p>
        </p:txBody>
      </p:sp>
      <p:sp>
        <p:nvSpPr>
          <p:cNvPr id="7" name="Text 4"/>
          <p:cNvSpPr txBox="1"/>
          <p:nvPr/>
        </p:nvSpPr>
        <p:spPr>
          <a:xfrm>
            <a:off x="640080" y="2350008"/>
            <a:ext cx="228600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including pagination &amp; fallback</a:t>
            </a:r>
            <a:endParaRPr lang="en-US" sz="1150" dirty="0"/>
          </a:p>
        </p:txBody>
      </p:sp>
      <p:sp>
        <p:nvSpPr>
          <p:cNvPr id="8" name="Shape 5"/>
          <p:cNvSpPr/>
          <p:nvPr/>
        </p:nvSpPr>
        <p:spPr>
          <a:xfrm>
            <a:off x="3246120" y="1188720"/>
            <a:ext cx="2606040" cy="1508760"/>
          </a:xfrm>
          <a:prstGeom prst="roundRect">
            <a:avLst>
              <a:gd name="adj" fmla="val 7273"/>
            </a:avLst>
          </a:prstGeom>
          <a:solidFill>
            <a:srgbClr val="F1F6F6"/>
          </a:solidFill>
          <a:ln w="12700">
            <a:solidFill>
              <a:srgbClr val="F1F6F6"/>
            </a:solidFill>
            <a:prstDash val="solid"/>
          </a:ln>
        </p:spPr>
      </p:sp>
      <p:sp>
        <p:nvSpPr>
          <p:cNvPr id="9" name="Shape 6"/>
          <p:cNvSpPr/>
          <p:nvPr/>
        </p:nvSpPr>
        <p:spPr>
          <a:xfrm>
            <a:off x="3429000" y="1417320"/>
            <a:ext cx="548640" cy="548640"/>
          </a:xfrm>
          <a:prstGeom prst="ellipse">
            <a:avLst/>
          </a:prstGeom>
          <a:solidFill>
            <a:srgbClr val="0F766E"/>
          </a:solidFill>
          <a:ln w="12700">
            <a:solidFill>
              <a:srgbClr val="0F766E"/>
            </a:solidFill>
            <a:prstDash val="solid"/>
          </a:ln>
        </p:spPr>
      </p:sp>
      <p:pic>
        <p:nvPicPr>
          <p:cNvPr id="10" name="Image 1" descr="preencoded.png">    </p:cNvPr>
          <p:cNvPicPr>
            <a:picLocks noChangeAspect="1"/>
          </p:cNvPicPr>
          <p:nvPr/>
        </p:nvPicPr>
        <p:blipFill>
          <a:blip r:embed="rId2"/>
          <a:stretch>
            <a:fillRect/>
          </a:stretch>
        </p:blipFill>
        <p:spPr>
          <a:xfrm>
            <a:off x="3566160" y="1554480"/>
            <a:ext cx="274320" cy="274320"/>
          </a:xfrm>
          <a:prstGeom prst="rect">
            <a:avLst/>
          </a:prstGeom>
        </p:spPr>
      </p:pic>
      <p:sp>
        <p:nvSpPr>
          <p:cNvPr id="11" name="Text 7"/>
          <p:cNvSpPr txBox="1"/>
          <p:nvPr/>
        </p:nvSpPr>
        <p:spPr>
          <a:xfrm>
            <a:off x="3429000" y="2057400"/>
            <a:ext cx="228600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Clean messy data</a:t>
            </a:r>
            <a:endParaRPr lang="en-US" sz="1400" dirty="0"/>
          </a:p>
        </p:txBody>
      </p:sp>
      <p:sp>
        <p:nvSpPr>
          <p:cNvPr id="12" name="Text 8"/>
          <p:cNvSpPr txBox="1"/>
          <p:nvPr/>
        </p:nvSpPr>
        <p:spPr>
          <a:xfrm>
            <a:off x="3429000" y="2350008"/>
            <a:ext cx="228600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with pandas and assert checks</a:t>
            </a:r>
            <a:endParaRPr lang="en-US" sz="1150" dirty="0"/>
          </a:p>
        </p:txBody>
      </p:sp>
      <p:sp>
        <p:nvSpPr>
          <p:cNvPr id="13" name="Shape 9"/>
          <p:cNvSpPr/>
          <p:nvPr/>
        </p:nvSpPr>
        <p:spPr>
          <a:xfrm>
            <a:off x="6035040" y="1188720"/>
            <a:ext cx="2606040" cy="1508760"/>
          </a:xfrm>
          <a:prstGeom prst="roundRect">
            <a:avLst>
              <a:gd name="adj" fmla="val 7273"/>
            </a:avLst>
          </a:prstGeom>
          <a:solidFill>
            <a:srgbClr val="F1F6F6"/>
          </a:solidFill>
          <a:ln w="12700">
            <a:solidFill>
              <a:srgbClr val="F1F6F6"/>
            </a:solidFill>
            <a:prstDash val="solid"/>
          </a:ln>
        </p:spPr>
      </p:sp>
      <p:sp>
        <p:nvSpPr>
          <p:cNvPr id="14" name="Shape 10"/>
          <p:cNvSpPr/>
          <p:nvPr/>
        </p:nvSpPr>
        <p:spPr>
          <a:xfrm>
            <a:off x="6217920" y="1417320"/>
            <a:ext cx="548640" cy="548640"/>
          </a:xfrm>
          <a:prstGeom prst="ellipse">
            <a:avLst/>
          </a:prstGeom>
          <a:solidFill>
            <a:srgbClr val="0F766E"/>
          </a:solidFill>
          <a:ln w="12700">
            <a:solidFill>
              <a:srgbClr val="0F766E"/>
            </a:solidFill>
            <a:prstDash val="solid"/>
          </a:ln>
        </p:spPr>
      </p:sp>
      <p:pic>
        <p:nvPicPr>
          <p:cNvPr id="15" name="Image 2" descr="preencoded.png">    </p:cNvPr>
          <p:cNvPicPr>
            <a:picLocks noChangeAspect="1"/>
          </p:cNvPicPr>
          <p:nvPr/>
        </p:nvPicPr>
        <p:blipFill>
          <a:blip r:embed="rId3"/>
          <a:stretch>
            <a:fillRect/>
          </a:stretch>
        </p:blipFill>
        <p:spPr>
          <a:xfrm>
            <a:off x="6355080" y="1554480"/>
            <a:ext cx="274320" cy="274320"/>
          </a:xfrm>
          <a:prstGeom prst="rect">
            <a:avLst/>
          </a:prstGeom>
        </p:spPr>
      </p:pic>
      <p:sp>
        <p:nvSpPr>
          <p:cNvPr id="16" name="Text 11"/>
          <p:cNvSpPr txBox="1"/>
          <p:nvPr/>
        </p:nvSpPr>
        <p:spPr>
          <a:xfrm>
            <a:off x="6217920" y="2057400"/>
            <a:ext cx="228600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Load into PostgreSQL</a:t>
            </a:r>
            <a:endParaRPr lang="en-US" sz="1400" dirty="0"/>
          </a:p>
        </p:txBody>
      </p:sp>
      <p:sp>
        <p:nvSpPr>
          <p:cNvPr id="17" name="Text 12"/>
          <p:cNvSpPr txBox="1"/>
          <p:nvPr/>
        </p:nvSpPr>
        <p:spPr>
          <a:xfrm>
            <a:off x="6217920" y="2350008"/>
            <a:ext cx="228600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with the correct data types</a:t>
            </a:r>
            <a:endParaRPr lang="en-US" sz="1150" dirty="0"/>
          </a:p>
        </p:txBody>
      </p:sp>
      <p:sp>
        <p:nvSpPr>
          <p:cNvPr id="18" name="Shape 13"/>
          <p:cNvSpPr/>
          <p:nvPr/>
        </p:nvSpPr>
        <p:spPr>
          <a:xfrm>
            <a:off x="457200" y="2880360"/>
            <a:ext cx="2606040" cy="1508760"/>
          </a:xfrm>
          <a:prstGeom prst="roundRect">
            <a:avLst>
              <a:gd name="adj" fmla="val 7273"/>
            </a:avLst>
          </a:prstGeom>
          <a:solidFill>
            <a:srgbClr val="F1F6F6"/>
          </a:solidFill>
          <a:ln w="12700">
            <a:solidFill>
              <a:srgbClr val="F1F6F6"/>
            </a:solidFill>
            <a:prstDash val="solid"/>
          </a:ln>
        </p:spPr>
      </p:sp>
      <p:sp>
        <p:nvSpPr>
          <p:cNvPr id="19" name="Shape 14"/>
          <p:cNvSpPr/>
          <p:nvPr/>
        </p:nvSpPr>
        <p:spPr>
          <a:xfrm>
            <a:off x="640080" y="3108960"/>
            <a:ext cx="548640" cy="548640"/>
          </a:xfrm>
          <a:prstGeom prst="ellipse">
            <a:avLst/>
          </a:prstGeom>
          <a:solidFill>
            <a:srgbClr val="0F766E"/>
          </a:solidFill>
          <a:ln w="12700">
            <a:solidFill>
              <a:srgbClr val="0F766E"/>
            </a:solidFill>
            <a:prstDash val="solid"/>
          </a:ln>
        </p:spPr>
      </p:sp>
      <p:pic>
        <p:nvPicPr>
          <p:cNvPr id="20" name="Image 3" descr="preencoded.png">    </p:cNvPr>
          <p:cNvPicPr>
            <a:picLocks noChangeAspect="1"/>
          </p:cNvPicPr>
          <p:nvPr/>
        </p:nvPicPr>
        <p:blipFill>
          <a:blip r:embed="rId4"/>
          <a:stretch>
            <a:fillRect/>
          </a:stretch>
        </p:blipFill>
        <p:spPr>
          <a:xfrm>
            <a:off x="777240" y="3246120"/>
            <a:ext cx="274320" cy="274320"/>
          </a:xfrm>
          <a:prstGeom prst="rect">
            <a:avLst/>
          </a:prstGeom>
        </p:spPr>
      </p:pic>
      <p:sp>
        <p:nvSpPr>
          <p:cNvPr id="21" name="Text 15"/>
          <p:cNvSpPr txBox="1"/>
          <p:nvPr/>
        </p:nvSpPr>
        <p:spPr>
          <a:xfrm>
            <a:off x="640080" y="3749040"/>
            <a:ext cx="228600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Analyze with SQL</a:t>
            </a:r>
            <a:endParaRPr lang="en-US" sz="1400" dirty="0"/>
          </a:p>
        </p:txBody>
      </p:sp>
      <p:sp>
        <p:nvSpPr>
          <p:cNvPr id="22" name="Text 16"/>
          <p:cNvSpPr txBox="1"/>
          <p:nvPr/>
        </p:nvSpPr>
        <p:spPr>
          <a:xfrm>
            <a:off x="640080" y="4041648"/>
            <a:ext cx="228600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from GROUP BY to window functions</a:t>
            </a:r>
            <a:endParaRPr lang="en-US" sz="1150" dirty="0"/>
          </a:p>
        </p:txBody>
      </p:sp>
      <p:sp>
        <p:nvSpPr>
          <p:cNvPr id="23" name="Shape 17"/>
          <p:cNvSpPr/>
          <p:nvPr/>
        </p:nvSpPr>
        <p:spPr>
          <a:xfrm>
            <a:off x="3246120" y="2880360"/>
            <a:ext cx="2606040" cy="1508760"/>
          </a:xfrm>
          <a:prstGeom prst="roundRect">
            <a:avLst>
              <a:gd name="adj" fmla="val 7273"/>
            </a:avLst>
          </a:prstGeom>
          <a:solidFill>
            <a:srgbClr val="F1F6F6"/>
          </a:solidFill>
          <a:ln w="12700">
            <a:solidFill>
              <a:srgbClr val="F1F6F6"/>
            </a:solidFill>
            <a:prstDash val="solid"/>
          </a:ln>
        </p:spPr>
      </p:sp>
      <p:sp>
        <p:nvSpPr>
          <p:cNvPr id="24" name="Shape 18"/>
          <p:cNvSpPr/>
          <p:nvPr/>
        </p:nvSpPr>
        <p:spPr>
          <a:xfrm>
            <a:off x="3429000" y="3108960"/>
            <a:ext cx="548640" cy="548640"/>
          </a:xfrm>
          <a:prstGeom prst="ellipse">
            <a:avLst/>
          </a:prstGeom>
          <a:solidFill>
            <a:srgbClr val="0F766E"/>
          </a:solidFill>
          <a:ln w="12700">
            <a:solidFill>
              <a:srgbClr val="0F766E"/>
            </a:solidFill>
            <a:prstDash val="solid"/>
          </a:ln>
        </p:spPr>
      </p:sp>
      <p:pic>
        <p:nvPicPr>
          <p:cNvPr id="25" name="Image 4" descr="preencoded.png">    </p:cNvPr>
          <p:cNvPicPr>
            <a:picLocks noChangeAspect="1"/>
          </p:cNvPicPr>
          <p:nvPr/>
        </p:nvPicPr>
        <p:blipFill>
          <a:blip r:embed="rId5"/>
          <a:stretch>
            <a:fillRect/>
          </a:stretch>
        </p:blipFill>
        <p:spPr>
          <a:xfrm>
            <a:off x="3566160" y="3246120"/>
            <a:ext cx="274320" cy="274320"/>
          </a:xfrm>
          <a:prstGeom prst="rect">
            <a:avLst/>
          </a:prstGeom>
        </p:spPr>
      </p:pic>
      <p:sp>
        <p:nvSpPr>
          <p:cNvPr id="26" name="Text 19"/>
          <p:cNvSpPr txBox="1"/>
          <p:nvPr/>
        </p:nvSpPr>
        <p:spPr>
          <a:xfrm>
            <a:off x="3429000" y="3749040"/>
            <a:ext cx="228600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Build a dashboard</a:t>
            </a:r>
            <a:endParaRPr lang="en-US" sz="1400" dirty="0"/>
          </a:p>
        </p:txBody>
      </p:sp>
      <p:sp>
        <p:nvSpPr>
          <p:cNvPr id="27" name="Text 20"/>
          <p:cNvSpPr txBox="1"/>
          <p:nvPr/>
        </p:nvSpPr>
        <p:spPr>
          <a:xfrm>
            <a:off x="3429000" y="4041648"/>
            <a:ext cx="228600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Plotly, Streamlit, or Looker Studio</a:t>
            </a:r>
            <a:endParaRPr lang="en-US" sz="1150" dirty="0"/>
          </a:p>
        </p:txBody>
      </p:sp>
      <p:sp>
        <p:nvSpPr>
          <p:cNvPr id="28" name="Shape 21"/>
          <p:cNvSpPr/>
          <p:nvPr/>
        </p:nvSpPr>
        <p:spPr>
          <a:xfrm>
            <a:off x="6035040" y="2880360"/>
            <a:ext cx="2606040" cy="1508760"/>
          </a:xfrm>
          <a:prstGeom prst="roundRect">
            <a:avLst>
              <a:gd name="adj" fmla="val 7273"/>
            </a:avLst>
          </a:prstGeom>
          <a:solidFill>
            <a:srgbClr val="F1F6F6"/>
          </a:solidFill>
          <a:ln w="12700">
            <a:solidFill>
              <a:srgbClr val="F1F6F6"/>
            </a:solidFill>
            <a:prstDash val="solid"/>
          </a:ln>
        </p:spPr>
      </p:sp>
      <p:sp>
        <p:nvSpPr>
          <p:cNvPr id="29" name="Shape 22"/>
          <p:cNvSpPr/>
          <p:nvPr/>
        </p:nvSpPr>
        <p:spPr>
          <a:xfrm>
            <a:off x="6217920" y="3108960"/>
            <a:ext cx="548640" cy="548640"/>
          </a:xfrm>
          <a:prstGeom prst="ellipse">
            <a:avLst/>
          </a:prstGeom>
          <a:solidFill>
            <a:srgbClr val="0F766E"/>
          </a:solidFill>
          <a:ln w="12700">
            <a:solidFill>
              <a:srgbClr val="0F766E"/>
            </a:solidFill>
            <a:prstDash val="solid"/>
          </a:ln>
        </p:spPr>
      </p:sp>
      <p:pic>
        <p:nvPicPr>
          <p:cNvPr id="30" name="Image 5" descr="preencoded.png">    </p:cNvPr>
          <p:cNvPicPr>
            <a:picLocks noChangeAspect="1"/>
          </p:cNvPicPr>
          <p:nvPr/>
        </p:nvPicPr>
        <p:blipFill>
          <a:blip r:embed="rId6"/>
          <a:stretch>
            <a:fillRect/>
          </a:stretch>
        </p:blipFill>
        <p:spPr>
          <a:xfrm>
            <a:off x="6355080" y="3246120"/>
            <a:ext cx="274320" cy="274320"/>
          </a:xfrm>
          <a:prstGeom prst="rect">
            <a:avLst/>
          </a:prstGeom>
        </p:spPr>
      </p:pic>
      <p:sp>
        <p:nvSpPr>
          <p:cNvPr id="31" name="Text 23"/>
          <p:cNvSpPr txBox="1"/>
          <p:nvPr/>
        </p:nvSpPr>
        <p:spPr>
          <a:xfrm>
            <a:off x="6217920" y="3749040"/>
            <a:ext cx="228600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Ship an end-to-end pipeline</a:t>
            </a:r>
            <a:endParaRPr lang="en-US" sz="1400" dirty="0"/>
          </a:p>
        </p:txBody>
      </p:sp>
      <p:sp>
        <p:nvSpPr>
          <p:cNvPr id="32" name="Text 24"/>
          <p:cNvSpPr txBox="1"/>
          <p:nvPr/>
        </p:nvSpPr>
        <p:spPr>
          <a:xfrm>
            <a:off x="6217920" y="4041648"/>
            <a:ext cx="228600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as a portfolio project</a:t>
            </a:r>
            <a:endParaRPr lang="en-US" sz="11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Before the workshop: software checklist</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3429000"/>
                <a:gridCol w="1051560"/>
                <a:gridCol w="173736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Software / account</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is for</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Get it from</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GitHub account (free)</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Fork the materials, push your work</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github.com/signup</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Python 3.11</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Run code &amp; notebooks (Windows: tick Add to PATH)</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python.org/downloads</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Git</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Clone your fork, commit &amp; push</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git-scm.com/downloads</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VS Code</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Code editor, notebooks, terminal, Git panel</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code.visualstudio.com</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Extensions: Python + Jupyter</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Run .ipynb notebooks inside VS Code</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VS Code Extensions panel</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Extensions: SQLTools + PG driver</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Query PostgreSQL inside VS Code</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0F766E"/>
                          </a:solidFill>
                          <a:latin typeface="Calibri" pitchFamily="34" charset="0"/>
                          <a:ea typeface="Calibri" pitchFamily="34" charset="-122"/>
                          <a:cs typeface="Calibri" pitchFamily="34" charset="-120"/>
                        </a:rPr>
                        <a:t>Recommended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VS Code Extensions panel</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01752">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Google account</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Looker Studio dashboard (Exercise 5)</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b="1" dirty="0">
                          <a:solidFill>
                            <a:srgbClr val="0F766E"/>
                          </a:solidFill>
                          <a:latin typeface="Calibri" pitchFamily="34" charset="0"/>
                          <a:ea typeface="Calibri" pitchFamily="34" charset="-122"/>
                          <a:cs typeface="Calibri" pitchFamily="34" charset="-120"/>
                        </a:rPr>
                        <a:t>Recommended</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050" dirty="0">
                          <a:solidFill>
                            <a:srgbClr val="0B2B2A"/>
                          </a:solidFill>
                          <a:latin typeface="Calibri" pitchFamily="34" charset="0"/>
                          <a:ea typeface="Calibri" pitchFamily="34" charset="-122"/>
                          <a:cs typeface="Calibri" pitchFamily="34" charset="-120"/>
                        </a:rPr>
                        <a:t>accounts.google.com</a:t>
                      </a:r>
                      <a:endParaRPr lang="en-US" sz="1050" dirty="0">
                        <a:latin typeface="Calibri" charset="0"/>
                        <a:ea typeface="Calibri" charset="0"/>
                        <a:cs typeface="Calibri" charset="0"/>
                      </a:endParaRPr>
                    </a:p>
                  </a:txBody>
                  <a:tcPr marL="91440" marR="91440" marT="45720" marB="45720" anchor="ctr">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bl>
          </a:graphicData>
        </a:graphic>
      </p:graphicFrame>
      <p:sp>
        <p:nvSpPr>
          <p:cNvPr id="4" name="Text 1"/>
          <p:cNvSpPr txBox="1"/>
          <p:nvPr/>
        </p:nvSpPr>
        <p:spPr>
          <a:xfrm>
            <a:off x="457200" y="3767328"/>
            <a:ext cx="8229600" cy="274320"/>
          </a:xfrm>
          <a:prstGeom prst="rect">
            <a:avLst/>
          </a:prstGeom>
          <a:noFill/>
          <a:ln/>
        </p:spPr>
        <p:txBody>
          <a:bodyPr wrap="square" lIns="0" tIns="0" rIns="0" bIns="0" rtlCol="0" anchor="t"/>
          <a:lstStyle/>
          <a:p>
            <a:pPr indent="0" marL="0">
              <a:buNone/>
            </a:pPr>
            <a:r>
              <a:rPr lang="en-US" sz="1200" b="1" dirty="0">
                <a:solidFill>
                  <a:srgbClr val="0B2B2A"/>
                </a:solidFill>
                <a:latin typeface="Calibri" pitchFamily="34" charset="0"/>
                <a:ea typeface="Calibri" pitchFamily="34" charset="-122"/>
                <a:cs typeface="Calibri" pitchFamily="34" charset="-120"/>
              </a:rPr>
              <a:t>Python libraries are installed into a virtual environment (.venv) during setup (~650 MB disk):</a:t>
            </a:r>
            <a:endParaRPr lang="en-US" sz="1200" dirty="0"/>
          </a:p>
        </p:txBody>
      </p:sp>
      <p:sp>
        <p:nvSpPr>
          <p:cNvPr id="5" name="Shape 2"/>
          <p:cNvSpPr/>
          <p:nvPr/>
        </p:nvSpPr>
        <p:spPr>
          <a:xfrm>
            <a:off x="457200" y="4069080"/>
            <a:ext cx="8229600" cy="384048"/>
          </a:xfrm>
          <a:prstGeom prst="roundRect">
            <a:avLst>
              <a:gd name="adj" fmla="val 19048"/>
            </a:avLst>
          </a:prstGeom>
          <a:solidFill>
            <a:srgbClr val="0B2B2A"/>
          </a:solidFill>
          <a:ln w="12700">
            <a:solidFill>
              <a:srgbClr val="0B2B2A"/>
            </a:solidFill>
            <a:prstDash val="solid"/>
          </a:ln>
        </p:spPr>
      </p:sp>
      <p:sp>
        <p:nvSpPr>
          <p:cNvPr id="6" name="Text 3"/>
          <p:cNvSpPr txBox="1"/>
          <p:nvPr/>
        </p:nvSpPr>
        <p:spPr>
          <a:xfrm>
            <a:off x="594360" y="4160520"/>
            <a:ext cx="7955280" cy="201168"/>
          </a:xfrm>
          <a:prstGeom prst="rect">
            <a:avLst/>
          </a:prstGeom>
          <a:noFill/>
          <a:ln/>
        </p:spPr>
        <p:txBody>
          <a:bodyPr wrap="square" lIns="0" tIns="0" rIns="0" bIns="0" rtlCol="0" anchor="t"/>
          <a:lstStyle/>
          <a:p>
            <a:pPr indent="0" marL="0">
              <a:buNone/>
            </a:pPr>
            <a:r>
              <a:rPr lang="en-US" sz="1200" dirty="0">
                <a:solidFill>
                  <a:srgbClr val="E6FFFA"/>
                </a:solidFill>
                <a:latin typeface="Courier New" pitchFamily="34" charset="0"/>
                <a:ea typeface="Courier New" pitchFamily="34" charset="-122"/>
                <a:cs typeface="Courier New" pitchFamily="34" charset="-120"/>
              </a:rPr>
              <a:t>python -m venv .venv   →   activate   →   pip install -r requirements.txt</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Before the workshop: be ready on day one</a:t>
            </a:r>
            <a:endParaRPr lang="en-US" sz="2800" dirty="0"/>
          </a:p>
        </p:txBody>
      </p:sp>
      <p:sp>
        <p:nvSpPr>
          <p:cNvPr id="3" name="Shape 1"/>
          <p:cNvSpPr/>
          <p:nvPr/>
        </p:nvSpPr>
        <p:spPr>
          <a:xfrm>
            <a:off x="457200" y="1097280"/>
            <a:ext cx="2606040" cy="1554480"/>
          </a:xfrm>
          <a:prstGeom prst="roundRect">
            <a:avLst>
              <a:gd name="adj" fmla="val 7059"/>
            </a:avLst>
          </a:prstGeom>
          <a:solidFill>
            <a:srgbClr val="F1F6F6"/>
          </a:solidFill>
          <a:ln w="12700">
            <a:solidFill>
              <a:srgbClr val="F1F6F6"/>
            </a:solidFill>
            <a:prstDash val="solid"/>
          </a:ln>
        </p:spPr>
      </p:sp>
      <p:sp>
        <p:nvSpPr>
          <p:cNvPr id="4" name="Shape 2"/>
          <p:cNvSpPr/>
          <p:nvPr/>
        </p:nvSpPr>
        <p:spPr>
          <a:xfrm>
            <a:off x="640080" y="1280160"/>
            <a:ext cx="502920" cy="502920"/>
          </a:xfrm>
          <a:prstGeom prst="ellipse">
            <a:avLst/>
          </a:prstGeom>
          <a:solidFill>
            <a:srgbClr val="0F766E"/>
          </a:solidFill>
          <a:ln w="12700">
            <a:solidFill>
              <a:srgbClr val="0F766E"/>
            </a:solidFill>
            <a:prstDash val="solid"/>
          </a:ln>
        </p:spPr>
      </p:sp>
      <p:pic>
        <p:nvPicPr>
          <p:cNvPr id="5" name="Image 0" descr="preencoded.png">    </p:cNvPr>
          <p:cNvPicPr>
            <a:picLocks noChangeAspect="1"/>
          </p:cNvPicPr>
          <p:nvPr/>
        </p:nvPicPr>
        <p:blipFill>
          <a:blip r:embed="rId1"/>
          <a:stretch>
            <a:fillRect/>
          </a:stretch>
        </p:blipFill>
        <p:spPr>
          <a:xfrm>
            <a:off x="765810" y="1405890"/>
            <a:ext cx="251460" cy="251460"/>
          </a:xfrm>
          <a:prstGeom prst="rect">
            <a:avLst/>
          </a:prstGeom>
        </p:spPr>
      </p:pic>
      <p:sp>
        <p:nvSpPr>
          <p:cNvPr id="6" name="Text 3"/>
          <p:cNvSpPr txBox="1"/>
          <p:nvPr/>
        </p:nvSpPr>
        <p:spPr>
          <a:xfrm>
            <a:off x="1280160" y="1371600"/>
            <a:ext cx="1691640" cy="365760"/>
          </a:xfrm>
          <a:prstGeom prst="rect">
            <a:avLst/>
          </a:prstGeom>
          <a:noFill/>
          <a:ln/>
        </p:spPr>
        <p:txBody>
          <a:bodyPr wrap="square" lIns="0" tIns="0" rIns="0" bIns="0" rtlCol="0" anchor="ctr"/>
          <a:lstStyle/>
          <a:p>
            <a:pPr indent="0" marL="0">
              <a:buNone/>
            </a:pPr>
            <a:r>
              <a:rPr lang="en-US" sz="1400" b="1" dirty="0">
                <a:solidFill>
                  <a:srgbClr val="0B2B2A"/>
                </a:solidFill>
                <a:latin typeface="Calibri" pitchFamily="34" charset="0"/>
                <a:ea typeface="Calibri" pitchFamily="34" charset="-122"/>
                <a:cs typeface="Calibri" pitchFamily="34" charset="-120"/>
              </a:rPr>
              <a:t>Laptop</a:t>
            </a:r>
            <a:endParaRPr lang="en-US" sz="1400" dirty="0"/>
          </a:p>
        </p:txBody>
      </p:sp>
      <p:sp>
        <p:nvSpPr>
          <p:cNvPr id="7" name="Text 4"/>
          <p:cNvSpPr txBox="1"/>
          <p:nvPr/>
        </p:nvSpPr>
        <p:spPr>
          <a:xfrm>
            <a:off x="640080" y="1920240"/>
            <a:ext cx="2286000" cy="64008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Admin rights to install, 8 GB RAM, ~2 GB free disk, charger</a:t>
            </a:r>
            <a:endParaRPr lang="en-US" sz="1150" dirty="0"/>
          </a:p>
        </p:txBody>
      </p:sp>
      <p:sp>
        <p:nvSpPr>
          <p:cNvPr id="8" name="Shape 5"/>
          <p:cNvSpPr/>
          <p:nvPr/>
        </p:nvSpPr>
        <p:spPr>
          <a:xfrm>
            <a:off x="3246120" y="1097280"/>
            <a:ext cx="2606040" cy="1554480"/>
          </a:xfrm>
          <a:prstGeom prst="roundRect">
            <a:avLst>
              <a:gd name="adj" fmla="val 7059"/>
            </a:avLst>
          </a:prstGeom>
          <a:solidFill>
            <a:srgbClr val="F1F6F6"/>
          </a:solidFill>
          <a:ln w="12700">
            <a:solidFill>
              <a:srgbClr val="F1F6F6"/>
            </a:solidFill>
            <a:prstDash val="solid"/>
          </a:ln>
        </p:spPr>
      </p:sp>
      <p:sp>
        <p:nvSpPr>
          <p:cNvPr id="9" name="Shape 6"/>
          <p:cNvSpPr/>
          <p:nvPr/>
        </p:nvSpPr>
        <p:spPr>
          <a:xfrm>
            <a:off x="3429000" y="1280160"/>
            <a:ext cx="502920" cy="502920"/>
          </a:xfrm>
          <a:prstGeom prst="ellipse">
            <a:avLst/>
          </a:prstGeom>
          <a:solidFill>
            <a:srgbClr val="0F766E"/>
          </a:solidFill>
          <a:ln w="12700">
            <a:solidFill>
              <a:srgbClr val="0F766E"/>
            </a:solidFill>
            <a:prstDash val="solid"/>
          </a:ln>
        </p:spPr>
      </p:sp>
      <p:pic>
        <p:nvPicPr>
          <p:cNvPr id="10" name="Image 1" descr="preencoded.png">    </p:cNvPr>
          <p:cNvPicPr>
            <a:picLocks noChangeAspect="1"/>
          </p:cNvPicPr>
          <p:nvPr/>
        </p:nvPicPr>
        <p:blipFill>
          <a:blip r:embed="rId2"/>
          <a:stretch>
            <a:fillRect/>
          </a:stretch>
        </p:blipFill>
        <p:spPr>
          <a:xfrm>
            <a:off x="3554730" y="1405890"/>
            <a:ext cx="251460" cy="251460"/>
          </a:xfrm>
          <a:prstGeom prst="rect">
            <a:avLst/>
          </a:prstGeom>
        </p:spPr>
      </p:pic>
      <p:sp>
        <p:nvSpPr>
          <p:cNvPr id="11" name="Text 7"/>
          <p:cNvSpPr txBox="1"/>
          <p:nvPr/>
        </p:nvSpPr>
        <p:spPr>
          <a:xfrm>
            <a:off x="4069080" y="1371600"/>
            <a:ext cx="1691640" cy="365760"/>
          </a:xfrm>
          <a:prstGeom prst="rect">
            <a:avLst/>
          </a:prstGeom>
          <a:noFill/>
          <a:ln/>
        </p:spPr>
        <p:txBody>
          <a:bodyPr wrap="square" lIns="0" tIns="0" rIns="0" bIns="0" rtlCol="0" anchor="ctr"/>
          <a:lstStyle/>
          <a:p>
            <a:pPr indent="0" marL="0">
              <a:buNone/>
            </a:pPr>
            <a:r>
              <a:rPr lang="en-US" sz="1400" b="1" dirty="0">
                <a:solidFill>
                  <a:srgbClr val="0B2B2A"/>
                </a:solidFill>
                <a:latin typeface="Calibri" pitchFamily="34" charset="0"/>
                <a:ea typeface="Calibri" pitchFamily="34" charset="-122"/>
                <a:cs typeface="Calibri" pitchFamily="34" charset="-120"/>
              </a:rPr>
              <a:t>Fork &amp; clone</a:t>
            </a:r>
            <a:endParaRPr lang="en-US" sz="1400" dirty="0"/>
          </a:p>
        </p:txBody>
      </p:sp>
      <p:sp>
        <p:nvSpPr>
          <p:cNvPr id="12" name="Text 8"/>
          <p:cNvSpPr txBox="1"/>
          <p:nvPr/>
        </p:nvSpPr>
        <p:spPr>
          <a:xfrm>
            <a:off x="3429000" y="1920240"/>
            <a:ext cx="2286000" cy="64008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Fork the repo on GitHub, clone YOUR fork, open it in VS Code</a:t>
            </a:r>
            <a:endParaRPr lang="en-US" sz="1150" dirty="0"/>
          </a:p>
        </p:txBody>
      </p:sp>
      <p:sp>
        <p:nvSpPr>
          <p:cNvPr id="13" name="Shape 9"/>
          <p:cNvSpPr/>
          <p:nvPr/>
        </p:nvSpPr>
        <p:spPr>
          <a:xfrm>
            <a:off x="6035040" y="1097280"/>
            <a:ext cx="2606040" cy="1554480"/>
          </a:xfrm>
          <a:prstGeom prst="roundRect">
            <a:avLst>
              <a:gd name="adj" fmla="val 7059"/>
            </a:avLst>
          </a:prstGeom>
          <a:solidFill>
            <a:srgbClr val="F1F6F6"/>
          </a:solidFill>
          <a:ln w="12700">
            <a:solidFill>
              <a:srgbClr val="F1F6F6"/>
            </a:solidFill>
            <a:prstDash val="solid"/>
          </a:ln>
        </p:spPr>
      </p:sp>
      <p:sp>
        <p:nvSpPr>
          <p:cNvPr id="14" name="Shape 10"/>
          <p:cNvSpPr/>
          <p:nvPr/>
        </p:nvSpPr>
        <p:spPr>
          <a:xfrm>
            <a:off x="6217920" y="1280160"/>
            <a:ext cx="502920" cy="502920"/>
          </a:xfrm>
          <a:prstGeom prst="ellipse">
            <a:avLst/>
          </a:prstGeom>
          <a:solidFill>
            <a:srgbClr val="0F766E"/>
          </a:solidFill>
          <a:ln w="12700">
            <a:solidFill>
              <a:srgbClr val="0F766E"/>
            </a:solidFill>
            <a:prstDash val="solid"/>
          </a:ln>
        </p:spPr>
      </p:sp>
      <p:pic>
        <p:nvPicPr>
          <p:cNvPr id="15" name="Image 2" descr="preencoded.png">    </p:cNvPr>
          <p:cNvPicPr>
            <a:picLocks noChangeAspect="1"/>
          </p:cNvPicPr>
          <p:nvPr/>
        </p:nvPicPr>
        <p:blipFill>
          <a:blip r:embed="rId3"/>
          <a:stretch>
            <a:fillRect/>
          </a:stretch>
        </p:blipFill>
        <p:spPr>
          <a:xfrm>
            <a:off x="6343650" y="1405890"/>
            <a:ext cx="251460" cy="251460"/>
          </a:xfrm>
          <a:prstGeom prst="rect">
            <a:avLst/>
          </a:prstGeom>
        </p:spPr>
      </p:pic>
      <p:sp>
        <p:nvSpPr>
          <p:cNvPr id="16" name="Text 11"/>
          <p:cNvSpPr txBox="1"/>
          <p:nvPr/>
        </p:nvSpPr>
        <p:spPr>
          <a:xfrm>
            <a:off x="6858000" y="1371600"/>
            <a:ext cx="1691640" cy="365760"/>
          </a:xfrm>
          <a:prstGeom prst="rect">
            <a:avLst/>
          </a:prstGeom>
          <a:noFill/>
          <a:ln/>
        </p:spPr>
        <p:txBody>
          <a:bodyPr wrap="square" lIns="0" tIns="0" rIns="0" bIns="0" rtlCol="0" anchor="ctr"/>
          <a:lstStyle/>
          <a:p>
            <a:pPr indent="0" marL="0">
              <a:buNone/>
            </a:pPr>
            <a:r>
              <a:rPr lang="en-US" sz="1400" b="1" dirty="0">
                <a:solidFill>
                  <a:srgbClr val="0B2B2A"/>
                </a:solidFill>
                <a:latin typeface="Calibri" pitchFamily="34" charset="0"/>
                <a:ea typeface="Calibri" pitchFamily="34" charset="-122"/>
                <a:cs typeface="Calibri" pitchFamily="34" charset="-120"/>
              </a:rPr>
              <a:t>Access card → .env</a:t>
            </a:r>
            <a:endParaRPr lang="en-US" sz="1400" dirty="0"/>
          </a:p>
        </p:txBody>
      </p:sp>
      <p:sp>
        <p:nvSpPr>
          <p:cNvPr id="17" name="Text 12"/>
          <p:cNvSpPr txBox="1"/>
          <p:nvPr/>
        </p:nvSpPr>
        <p:spPr>
          <a:xfrm>
            <a:off x="6217920" y="1920240"/>
            <a:ext cx="2286000" cy="64008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Copy .env.example to .env and fill in your database credentials</a:t>
            </a:r>
            <a:endParaRPr lang="en-US" sz="1150" dirty="0"/>
          </a:p>
        </p:txBody>
      </p:sp>
      <p:sp>
        <p:nvSpPr>
          <p:cNvPr id="18" name="Shape 13"/>
          <p:cNvSpPr/>
          <p:nvPr/>
        </p:nvSpPr>
        <p:spPr>
          <a:xfrm>
            <a:off x="457200" y="2788920"/>
            <a:ext cx="2606040" cy="1554480"/>
          </a:xfrm>
          <a:prstGeom prst="roundRect">
            <a:avLst>
              <a:gd name="adj" fmla="val 7059"/>
            </a:avLst>
          </a:prstGeom>
          <a:solidFill>
            <a:srgbClr val="F1F6F6"/>
          </a:solidFill>
          <a:ln w="12700">
            <a:solidFill>
              <a:srgbClr val="F1F6F6"/>
            </a:solidFill>
            <a:prstDash val="solid"/>
          </a:ln>
        </p:spPr>
      </p:sp>
      <p:sp>
        <p:nvSpPr>
          <p:cNvPr id="19" name="Shape 14"/>
          <p:cNvSpPr/>
          <p:nvPr/>
        </p:nvSpPr>
        <p:spPr>
          <a:xfrm>
            <a:off x="640080" y="2971800"/>
            <a:ext cx="502920" cy="502920"/>
          </a:xfrm>
          <a:prstGeom prst="ellipse">
            <a:avLst/>
          </a:prstGeom>
          <a:solidFill>
            <a:srgbClr val="0F766E"/>
          </a:solidFill>
          <a:ln w="12700">
            <a:solidFill>
              <a:srgbClr val="0F766E"/>
            </a:solidFill>
            <a:prstDash val="solid"/>
          </a:ln>
        </p:spPr>
      </p:sp>
      <p:pic>
        <p:nvPicPr>
          <p:cNvPr id="20" name="Image 3" descr="preencoded.png">    </p:cNvPr>
          <p:cNvPicPr>
            <a:picLocks noChangeAspect="1"/>
          </p:cNvPicPr>
          <p:nvPr/>
        </p:nvPicPr>
        <p:blipFill>
          <a:blip r:embed="rId4"/>
          <a:stretch>
            <a:fillRect/>
          </a:stretch>
        </p:blipFill>
        <p:spPr>
          <a:xfrm>
            <a:off x="765810" y="3097530"/>
            <a:ext cx="251460" cy="251460"/>
          </a:xfrm>
          <a:prstGeom prst="rect">
            <a:avLst/>
          </a:prstGeom>
        </p:spPr>
      </p:pic>
      <p:sp>
        <p:nvSpPr>
          <p:cNvPr id="21" name="Text 15"/>
          <p:cNvSpPr txBox="1"/>
          <p:nvPr/>
        </p:nvSpPr>
        <p:spPr>
          <a:xfrm>
            <a:off x="1280160" y="3063240"/>
            <a:ext cx="1691640" cy="365760"/>
          </a:xfrm>
          <a:prstGeom prst="rect">
            <a:avLst/>
          </a:prstGeom>
          <a:noFill/>
          <a:ln/>
        </p:spPr>
        <p:txBody>
          <a:bodyPr wrap="square" lIns="0" tIns="0" rIns="0" bIns="0" rtlCol="0" anchor="ctr"/>
          <a:lstStyle/>
          <a:p>
            <a:pPr indent="0" marL="0">
              <a:buNone/>
            </a:pPr>
            <a:r>
              <a:rPr lang="en-US" sz="1400" b="1" dirty="0">
                <a:solidFill>
                  <a:srgbClr val="0B2B2A"/>
                </a:solidFill>
                <a:latin typeface="Calibri" pitchFamily="34" charset="0"/>
                <a:ea typeface="Calibri" pitchFamily="34" charset="-122"/>
                <a:cs typeface="Calibri" pitchFamily="34" charset="-120"/>
              </a:rPr>
              <a:t>Python environment</a:t>
            </a:r>
            <a:endParaRPr lang="en-US" sz="1400" dirty="0"/>
          </a:p>
        </p:txBody>
      </p:sp>
      <p:sp>
        <p:nvSpPr>
          <p:cNvPr id="22" name="Text 16"/>
          <p:cNvSpPr txBox="1"/>
          <p:nvPr/>
        </p:nvSpPr>
        <p:spPr>
          <a:xfrm>
            <a:off x="640080" y="3611880"/>
            <a:ext cx="2286000" cy="64008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Create .venv, pip install -r requirements.txt, select the .venv kernel</a:t>
            </a:r>
            <a:endParaRPr lang="en-US" sz="1150" dirty="0"/>
          </a:p>
        </p:txBody>
      </p:sp>
      <p:sp>
        <p:nvSpPr>
          <p:cNvPr id="23" name="Shape 17"/>
          <p:cNvSpPr/>
          <p:nvPr/>
        </p:nvSpPr>
        <p:spPr>
          <a:xfrm>
            <a:off x="3246120" y="2788920"/>
            <a:ext cx="2606040" cy="1554480"/>
          </a:xfrm>
          <a:prstGeom prst="roundRect">
            <a:avLst>
              <a:gd name="adj" fmla="val 7059"/>
            </a:avLst>
          </a:prstGeom>
          <a:solidFill>
            <a:srgbClr val="F1F6F6"/>
          </a:solidFill>
          <a:ln w="12700">
            <a:solidFill>
              <a:srgbClr val="F1F6F6"/>
            </a:solidFill>
            <a:prstDash val="solid"/>
          </a:ln>
        </p:spPr>
      </p:sp>
      <p:sp>
        <p:nvSpPr>
          <p:cNvPr id="24" name="Shape 18"/>
          <p:cNvSpPr/>
          <p:nvPr/>
        </p:nvSpPr>
        <p:spPr>
          <a:xfrm>
            <a:off x="3429000" y="2971800"/>
            <a:ext cx="502920" cy="502920"/>
          </a:xfrm>
          <a:prstGeom prst="ellipse">
            <a:avLst/>
          </a:prstGeom>
          <a:solidFill>
            <a:srgbClr val="0F766E"/>
          </a:solidFill>
          <a:ln w="12700">
            <a:solidFill>
              <a:srgbClr val="0F766E"/>
            </a:solidFill>
            <a:prstDash val="solid"/>
          </a:ln>
        </p:spPr>
      </p:sp>
      <p:pic>
        <p:nvPicPr>
          <p:cNvPr id="25" name="Image 4" descr="preencoded.png">    </p:cNvPr>
          <p:cNvPicPr>
            <a:picLocks noChangeAspect="1"/>
          </p:cNvPicPr>
          <p:nvPr/>
        </p:nvPicPr>
        <p:blipFill>
          <a:blip r:embed="rId5"/>
          <a:stretch>
            <a:fillRect/>
          </a:stretch>
        </p:blipFill>
        <p:spPr>
          <a:xfrm>
            <a:off x="3554730" y="3097530"/>
            <a:ext cx="251460" cy="251460"/>
          </a:xfrm>
          <a:prstGeom prst="rect">
            <a:avLst/>
          </a:prstGeom>
        </p:spPr>
      </p:pic>
      <p:sp>
        <p:nvSpPr>
          <p:cNvPr id="26" name="Text 19"/>
          <p:cNvSpPr txBox="1"/>
          <p:nvPr/>
        </p:nvSpPr>
        <p:spPr>
          <a:xfrm>
            <a:off x="4069080" y="3063240"/>
            <a:ext cx="1691640" cy="365760"/>
          </a:xfrm>
          <a:prstGeom prst="rect">
            <a:avLst/>
          </a:prstGeom>
          <a:noFill/>
          <a:ln/>
        </p:spPr>
        <p:txBody>
          <a:bodyPr wrap="square" lIns="0" tIns="0" rIns="0" bIns="0" rtlCol="0" anchor="ctr"/>
          <a:lstStyle/>
          <a:p>
            <a:pPr indent="0" marL="0">
              <a:buNone/>
            </a:pPr>
            <a:r>
              <a:rPr lang="en-US" sz="1400" b="1" dirty="0">
                <a:solidFill>
                  <a:srgbClr val="0B2B2A"/>
                </a:solidFill>
                <a:latin typeface="Calibri" pitchFamily="34" charset="0"/>
                <a:ea typeface="Calibri" pitchFamily="34" charset="-122"/>
                <a:cs typeface="Calibri" pitchFamily="34" charset="-120"/>
              </a:rPr>
              <a:t>Readiness check</a:t>
            </a:r>
            <a:endParaRPr lang="en-US" sz="1400" dirty="0"/>
          </a:p>
        </p:txBody>
      </p:sp>
      <p:sp>
        <p:nvSpPr>
          <p:cNvPr id="27" name="Text 20"/>
          <p:cNvSpPr txBox="1"/>
          <p:nvPr/>
        </p:nvSpPr>
        <p:spPr>
          <a:xfrm>
            <a:off x="3429000" y="3611880"/>
            <a:ext cx="2286000" cy="64008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Run 00_Cek_Kesiapan: every item ✅, then commit &amp; push the report</a:t>
            </a:r>
            <a:endParaRPr lang="en-US" sz="1150" dirty="0"/>
          </a:p>
        </p:txBody>
      </p:sp>
      <p:sp>
        <p:nvSpPr>
          <p:cNvPr id="28" name="Shape 21"/>
          <p:cNvSpPr/>
          <p:nvPr/>
        </p:nvSpPr>
        <p:spPr>
          <a:xfrm>
            <a:off x="6035040" y="2788920"/>
            <a:ext cx="2606040" cy="1554480"/>
          </a:xfrm>
          <a:prstGeom prst="roundRect">
            <a:avLst>
              <a:gd name="adj" fmla="val 7059"/>
            </a:avLst>
          </a:prstGeom>
          <a:solidFill>
            <a:srgbClr val="F1F6F6"/>
          </a:solidFill>
          <a:ln w="12700">
            <a:solidFill>
              <a:srgbClr val="F1F6F6"/>
            </a:solidFill>
            <a:prstDash val="solid"/>
          </a:ln>
        </p:spPr>
      </p:sp>
      <p:sp>
        <p:nvSpPr>
          <p:cNvPr id="29" name="Shape 22"/>
          <p:cNvSpPr/>
          <p:nvPr/>
        </p:nvSpPr>
        <p:spPr>
          <a:xfrm>
            <a:off x="6217920" y="2971800"/>
            <a:ext cx="502920" cy="502920"/>
          </a:xfrm>
          <a:prstGeom prst="ellipse">
            <a:avLst/>
          </a:prstGeom>
          <a:solidFill>
            <a:srgbClr val="0F766E"/>
          </a:solidFill>
          <a:ln w="12700">
            <a:solidFill>
              <a:srgbClr val="0F766E"/>
            </a:solidFill>
            <a:prstDash val="solid"/>
          </a:ln>
        </p:spPr>
      </p:sp>
      <p:pic>
        <p:nvPicPr>
          <p:cNvPr id="30" name="Image 5" descr="preencoded.png">    </p:cNvPr>
          <p:cNvPicPr>
            <a:picLocks noChangeAspect="1"/>
          </p:cNvPicPr>
          <p:nvPr/>
        </p:nvPicPr>
        <p:blipFill>
          <a:blip r:embed="rId6"/>
          <a:stretch>
            <a:fillRect/>
          </a:stretch>
        </p:blipFill>
        <p:spPr>
          <a:xfrm>
            <a:off x="6343650" y="3097530"/>
            <a:ext cx="251460" cy="251460"/>
          </a:xfrm>
          <a:prstGeom prst="rect">
            <a:avLst/>
          </a:prstGeom>
        </p:spPr>
      </p:pic>
      <p:sp>
        <p:nvSpPr>
          <p:cNvPr id="31" name="Text 23"/>
          <p:cNvSpPr txBox="1"/>
          <p:nvPr/>
        </p:nvSpPr>
        <p:spPr>
          <a:xfrm>
            <a:off x="6858000" y="3063240"/>
            <a:ext cx="1691640" cy="365760"/>
          </a:xfrm>
          <a:prstGeom prst="rect">
            <a:avLst/>
          </a:prstGeom>
          <a:noFill/>
          <a:ln/>
        </p:spPr>
        <p:txBody>
          <a:bodyPr wrap="square" lIns="0" tIns="0" rIns="0" bIns="0" rtlCol="0" anchor="ctr"/>
          <a:lstStyle/>
          <a:p>
            <a:pPr indent="0" marL="0">
              <a:buNone/>
            </a:pPr>
            <a:r>
              <a:rPr lang="en-US" sz="1400" b="1" dirty="0">
                <a:solidFill>
                  <a:srgbClr val="0B2B2A"/>
                </a:solidFill>
                <a:latin typeface="Calibri" pitchFamily="34" charset="0"/>
                <a:ea typeface="Calibri" pitchFamily="34" charset="-122"/>
                <a:cs typeface="Calibri" pitchFamily="34" charset="-120"/>
              </a:rPr>
              <a:t>Deadline: Fri 16 Oct, 21.00</a:t>
            </a:r>
            <a:endParaRPr lang="en-US" sz="1400" dirty="0"/>
          </a:p>
        </p:txBody>
      </p:sp>
      <p:sp>
        <p:nvSpPr>
          <p:cNvPr id="32" name="Text 24"/>
          <p:cNvSpPr txBox="1"/>
          <p:nvPr/>
        </p:nvSpPr>
        <p:spPr>
          <a:xfrm>
            <a:off x="6217920" y="3611880"/>
            <a:ext cx="2286000" cy="64008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First report Thu 15 Oct · online consultation Fri (H-1) · no installation on Saturday</a:t>
            </a:r>
            <a:endParaRPr lang="en-US" sz="11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Setup flow (completed before the workshop)</a:t>
            </a:r>
            <a:endParaRPr lang="en-US" sz="2800" dirty="0"/>
          </a:p>
        </p:txBody>
      </p:sp>
      <p:sp>
        <p:nvSpPr>
          <p:cNvPr id="3" name="Shape 1"/>
          <p:cNvSpPr/>
          <p:nvPr/>
        </p:nvSpPr>
        <p:spPr>
          <a:xfrm>
            <a:off x="457200" y="1051560"/>
            <a:ext cx="8229600" cy="548640"/>
          </a:xfrm>
          <a:prstGeom prst="roundRect">
            <a:avLst>
              <a:gd name="adj" fmla="val 16667"/>
            </a:avLst>
          </a:prstGeom>
          <a:solidFill>
            <a:srgbClr val="082F2D"/>
          </a:solidFill>
          <a:ln w="12700">
            <a:solidFill>
              <a:srgbClr val="082F2D"/>
            </a:solidFill>
            <a:prstDash val="solid"/>
          </a:ln>
        </p:spPr>
      </p:sp>
      <p:pic>
        <p:nvPicPr>
          <p:cNvPr id="4" name="Image 0" descr="preencoded.png">    </p:cNvPr>
          <p:cNvPicPr>
            <a:picLocks noChangeAspect="1"/>
          </p:cNvPicPr>
          <p:nvPr/>
        </p:nvPicPr>
        <p:blipFill>
          <a:blip r:embed="rId1"/>
          <a:stretch>
            <a:fillRect/>
          </a:stretch>
        </p:blipFill>
        <p:spPr>
          <a:xfrm>
            <a:off x="640080" y="1161288"/>
            <a:ext cx="329184" cy="329184"/>
          </a:xfrm>
          <a:prstGeom prst="rect">
            <a:avLst/>
          </a:prstGeom>
        </p:spPr>
      </p:pic>
      <p:sp>
        <p:nvSpPr>
          <p:cNvPr id="5" name="Text 2"/>
          <p:cNvSpPr txBox="1"/>
          <p:nvPr/>
        </p:nvSpPr>
        <p:spPr>
          <a:xfrm>
            <a:off x="1097280" y="1051560"/>
            <a:ext cx="7406640" cy="54864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github.com/AisahAlfiyatusR/data-science-workshop</a:t>
            </a:r>
            <a:endParaRPr lang="en-US" sz="1700" dirty="0"/>
          </a:p>
        </p:txBody>
      </p:sp>
      <p:sp>
        <p:nvSpPr>
          <p:cNvPr id="6" name="Shape 3"/>
          <p:cNvSpPr/>
          <p:nvPr/>
        </p:nvSpPr>
        <p:spPr>
          <a:xfrm>
            <a:off x="457200" y="1828800"/>
            <a:ext cx="1920240" cy="2011680"/>
          </a:xfrm>
          <a:prstGeom prst="roundRect">
            <a:avLst>
              <a:gd name="adj" fmla="val 5714"/>
            </a:avLst>
          </a:prstGeom>
          <a:solidFill>
            <a:srgbClr val="F1F6F6"/>
          </a:solidFill>
          <a:ln w="12700">
            <a:solidFill>
              <a:srgbClr val="F1F6F6"/>
            </a:solidFill>
            <a:prstDash val="solid"/>
          </a:ln>
        </p:spPr>
      </p:sp>
      <p:sp>
        <p:nvSpPr>
          <p:cNvPr id="7" name="Shape 4"/>
          <p:cNvSpPr/>
          <p:nvPr/>
        </p:nvSpPr>
        <p:spPr>
          <a:xfrm>
            <a:off x="640080" y="1965960"/>
            <a:ext cx="502920" cy="502920"/>
          </a:xfrm>
          <a:prstGeom prst="ellipse">
            <a:avLst/>
          </a:prstGeom>
          <a:solidFill>
            <a:srgbClr val="0F766E"/>
          </a:solidFill>
          <a:ln w="12700">
            <a:solidFill>
              <a:srgbClr val="0F766E"/>
            </a:solidFill>
            <a:prstDash val="solid"/>
          </a:ln>
        </p:spPr>
      </p:sp>
      <p:pic>
        <p:nvPicPr>
          <p:cNvPr id="8" name="Image 1" descr="preencoded.png">    </p:cNvPr>
          <p:cNvPicPr>
            <a:picLocks noChangeAspect="1"/>
          </p:cNvPicPr>
          <p:nvPr/>
        </p:nvPicPr>
        <p:blipFill>
          <a:blip r:embed="rId2"/>
          <a:stretch>
            <a:fillRect/>
          </a:stretch>
        </p:blipFill>
        <p:spPr>
          <a:xfrm>
            <a:off x="765810" y="2091690"/>
            <a:ext cx="251460" cy="251460"/>
          </a:xfrm>
          <a:prstGeom prst="rect">
            <a:avLst/>
          </a:prstGeom>
        </p:spPr>
      </p:pic>
      <p:sp>
        <p:nvSpPr>
          <p:cNvPr id="9" name="Text 5"/>
          <p:cNvSpPr txBox="1"/>
          <p:nvPr/>
        </p:nvSpPr>
        <p:spPr>
          <a:xfrm>
            <a:off x="640080" y="2578608"/>
            <a:ext cx="164592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1 · Fork &amp; clone</a:t>
            </a:r>
            <a:endParaRPr lang="en-US" sz="1400" dirty="0"/>
          </a:p>
        </p:txBody>
      </p:sp>
      <p:sp>
        <p:nvSpPr>
          <p:cNvPr id="10" name="Text 6"/>
          <p:cNvSpPr txBox="1"/>
          <p:nvPr/>
        </p:nvSpPr>
        <p:spPr>
          <a:xfrm>
            <a:off x="640080" y="2907792"/>
            <a:ext cx="1600200" cy="86868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Fork on GitHub, then git clone YOUR fork and run: code .</a:t>
            </a:r>
            <a:endParaRPr lang="en-US" sz="1100" dirty="0"/>
          </a:p>
        </p:txBody>
      </p:sp>
      <p:sp>
        <p:nvSpPr>
          <p:cNvPr id="11" name="Shape 7"/>
          <p:cNvSpPr/>
          <p:nvPr/>
        </p:nvSpPr>
        <p:spPr>
          <a:xfrm>
            <a:off x="2560320" y="1828800"/>
            <a:ext cx="1920240" cy="2011680"/>
          </a:xfrm>
          <a:prstGeom prst="roundRect">
            <a:avLst>
              <a:gd name="adj" fmla="val 5714"/>
            </a:avLst>
          </a:prstGeom>
          <a:solidFill>
            <a:srgbClr val="F1F6F6"/>
          </a:solidFill>
          <a:ln w="12700">
            <a:solidFill>
              <a:srgbClr val="F1F6F6"/>
            </a:solidFill>
            <a:prstDash val="solid"/>
          </a:ln>
        </p:spPr>
      </p:sp>
      <p:sp>
        <p:nvSpPr>
          <p:cNvPr id="12" name="Shape 8"/>
          <p:cNvSpPr/>
          <p:nvPr/>
        </p:nvSpPr>
        <p:spPr>
          <a:xfrm>
            <a:off x="2743200" y="1965960"/>
            <a:ext cx="502920" cy="502920"/>
          </a:xfrm>
          <a:prstGeom prst="ellipse">
            <a:avLst/>
          </a:prstGeom>
          <a:solidFill>
            <a:srgbClr val="0F766E"/>
          </a:solidFill>
          <a:ln w="12700">
            <a:solidFill>
              <a:srgbClr val="0F766E"/>
            </a:solidFill>
            <a:prstDash val="solid"/>
          </a:ln>
        </p:spPr>
      </p:sp>
      <p:pic>
        <p:nvPicPr>
          <p:cNvPr id="13" name="Image 2" descr="preencoded.png">    </p:cNvPr>
          <p:cNvPicPr>
            <a:picLocks noChangeAspect="1"/>
          </p:cNvPicPr>
          <p:nvPr/>
        </p:nvPicPr>
        <p:blipFill>
          <a:blip r:embed="rId3"/>
          <a:stretch>
            <a:fillRect/>
          </a:stretch>
        </p:blipFill>
        <p:spPr>
          <a:xfrm>
            <a:off x="2868930" y="2091690"/>
            <a:ext cx="251460" cy="251460"/>
          </a:xfrm>
          <a:prstGeom prst="rect">
            <a:avLst/>
          </a:prstGeom>
        </p:spPr>
      </p:pic>
      <p:sp>
        <p:nvSpPr>
          <p:cNvPr id="14" name="Text 9"/>
          <p:cNvSpPr txBox="1"/>
          <p:nvPr/>
        </p:nvSpPr>
        <p:spPr>
          <a:xfrm>
            <a:off x="2743200" y="2578608"/>
            <a:ext cx="164592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2 · Environment</a:t>
            </a:r>
            <a:endParaRPr lang="en-US" sz="1400" dirty="0"/>
          </a:p>
        </p:txBody>
      </p:sp>
      <p:sp>
        <p:nvSpPr>
          <p:cNvPr id="15" name="Text 10"/>
          <p:cNvSpPr txBox="1"/>
          <p:nvPr/>
        </p:nvSpPr>
        <p:spPr>
          <a:xfrm>
            <a:off x="2743200" y="2907792"/>
            <a:ext cx="1600200" cy="86868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python -m venv .venv, activate it, pip install -r requirements.txt</a:t>
            </a:r>
            <a:endParaRPr lang="en-US" sz="1100" dirty="0"/>
          </a:p>
        </p:txBody>
      </p:sp>
      <p:sp>
        <p:nvSpPr>
          <p:cNvPr id="16" name="Shape 11"/>
          <p:cNvSpPr/>
          <p:nvPr/>
        </p:nvSpPr>
        <p:spPr>
          <a:xfrm>
            <a:off x="4663440" y="1828800"/>
            <a:ext cx="1920240" cy="2011680"/>
          </a:xfrm>
          <a:prstGeom prst="roundRect">
            <a:avLst>
              <a:gd name="adj" fmla="val 5714"/>
            </a:avLst>
          </a:prstGeom>
          <a:solidFill>
            <a:srgbClr val="F1F6F6"/>
          </a:solidFill>
          <a:ln w="12700">
            <a:solidFill>
              <a:srgbClr val="F1F6F6"/>
            </a:solidFill>
            <a:prstDash val="solid"/>
          </a:ln>
        </p:spPr>
      </p:sp>
      <p:sp>
        <p:nvSpPr>
          <p:cNvPr id="17" name="Shape 12"/>
          <p:cNvSpPr/>
          <p:nvPr/>
        </p:nvSpPr>
        <p:spPr>
          <a:xfrm>
            <a:off x="4846320" y="1965960"/>
            <a:ext cx="502920" cy="502920"/>
          </a:xfrm>
          <a:prstGeom prst="ellipse">
            <a:avLst/>
          </a:prstGeom>
          <a:solidFill>
            <a:srgbClr val="0F766E"/>
          </a:solidFill>
          <a:ln w="12700">
            <a:solidFill>
              <a:srgbClr val="0F766E"/>
            </a:solidFill>
            <a:prstDash val="solid"/>
          </a:ln>
        </p:spPr>
      </p:sp>
      <p:pic>
        <p:nvPicPr>
          <p:cNvPr id="18" name="Image 3" descr="preencoded.png">    </p:cNvPr>
          <p:cNvPicPr>
            <a:picLocks noChangeAspect="1"/>
          </p:cNvPicPr>
          <p:nvPr/>
        </p:nvPicPr>
        <p:blipFill>
          <a:blip r:embed="rId4"/>
          <a:stretch>
            <a:fillRect/>
          </a:stretch>
        </p:blipFill>
        <p:spPr>
          <a:xfrm>
            <a:off x="4972050" y="2091690"/>
            <a:ext cx="251460" cy="251460"/>
          </a:xfrm>
          <a:prstGeom prst="rect">
            <a:avLst/>
          </a:prstGeom>
        </p:spPr>
      </p:pic>
      <p:sp>
        <p:nvSpPr>
          <p:cNvPr id="19" name="Text 13"/>
          <p:cNvSpPr txBox="1"/>
          <p:nvPr/>
        </p:nvSpPr>
        <p:spPr>
          <a:xfrm>
            <a:off x="4846320" y="2578608"/>
            <a:ext cx="164592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3 · Configure</a:t>
            </a:r>
            <a:endParaRPr lang="en-US" sz="1400" dirty="0"/>
          </a:p>
        </p:txBody>
      </p:sp>
      <p:sp>
        <p:nvSpPr>
          <p:cNvPr id="20" name="Text 14"/>
          <p:cNvSpPr txBox="1"/>
          <p:nvPr/>
        </p:nvSpPr>
        <p:spPr>
          <a:xfrm>
            <a:off x="4846320" y="2907792"/>
            <a:ext cx="1600200" cy="86868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.env.example → .env, filled in from your access card (never committed)</a:t>
            </a:r>
            <a:endParaRPr lang="en-US" sz="1100" dirty="0"/>
          </a:p>
        </p:txBody>
      </p:sp>
      <p:sp>
        <p:nvSpPr>
          <p:cNvPr id="21" name="Shape 15"/>
          <p:cNvSpPr/>
          <p:nvPr/>
        </p:nvSpPr>
        <p:spPr>
          <a:xfrm>
            <a:off x="6766560" y="1828800"/>
            <a:ext cx="1920240" cy="2011680"/>
          </a:xfrm>
          <a:prstGeom prst="roundRect">
            <a:avLst>
              <a:gd name="adj" fmla="val 5714"/>
            </a:avLst>
          </a:prstGeom>
          <a:solidFill>
            <a:srgbClr val="F1F6F6"/>
          </a:solidFill>
          <a:ln w="12700">
            <a:solidFill>
              <a:srgbClr val="F1F6F6"/>
            </a:solidFill>
            <a:prstDash val="solid"/>
          </a:ln>
        </p:spPr>
      </p:sp>
      <p:sp>
        <p:nvSpPr>
          <p:cNvPr id="22" name="Shape 16"/>
          <p:cNvSpPr/>
          <p:nvPr/>
        </p:nvSpPr>
        <p:spPr>
          <a:xfrm>
            <a:off x="6949440" y="1965960"/>
            <a:ext cx="502920" cy="502920"/>
          </a:xfrm>
          <a:prstGeom prst="ellipse">
            <a:avLst/>
          </a:prstGeom>
          <a:solidFill>
            <a:srgbClr val="0F766E"/>
          </a:solidFill>
          <a:ln w="12700">
            <a:solidFill>
              <a:srgbClr val="0F766E"/>
            </a:solidFill>
            <a:prstDash val="solid"/>
          </a:ln>
        </p:spPr>
      </p:sp>
      <p:pic>
        <p:nvPicPr>
          <p:cNvPr id="23" name="Image 4" descr="preencoded.png">    </p:cNvPr>
          <p:cNvPicPr>
            <a:picLocks noChangeAspect="1"/>
          </p:cNvPicPr>
          <p:nvPr/>
        </p:nvPicPr>
        <p:blipFill>
          <a:blip r:embed="rId5"/>
          <a:stretch>
            <a:fillRect/>
          </a:stretch>
        </p:blipFill>
        <p:spPr>
          <a:xfrm>
            <a:off x="7075170" y="2091690"/>
            <a:ext cx="251460" cy="251460"/>
          </a:xfrm>
          <a:prstGeom prst="rect">
            <a:avLst/>
          </a:prstGeom>
        </p:spPr>
      </p:pic>
      <p:sp>
        <p:nvSpPr>
          <p:cNvPr id="24" name="Text 17"/>
          <p:cNvSpPr txBox="1"/>
          <p:nvPr/>
        </p:nvSpPr>
        <p:spPr>
          <a:xfrm>
            <a:off x="6949440" y="2578608"/>
            <a:ext cx="1645920" cy="3200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4 · Verify &amp; push</a:t>
            </a:r>
            <a:endParaRPr lang="en-US" sz="1400" dirty="0"/>
          </a:p>
        </p:txBody>
      </p:sp>
      <p:sp>
        <p:nvSpPr>
          <p:cNvPr id="25" name="Text 18"/>
          <p:cNvSpPr txBox="1"/>
          <p:nvPr/>
        </p:nvSpPr>
        <p:spPr>
          <a:xfrm>
            <a:off x="6949440" y="2907792"/>
            <a:ext cx="1600200" cy="86868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Run 00_Cek_Kesiapan → all ✅ → commit &amp; push the report</a:t>
            </a:r>
            <a:endParaRPr lang="en-US" sz="1100" dirty="0"/>
          </a:p>
        </p:txBody>
      </p:sp>
      <p:sp>
        <p:nvSpPr>
          <p:cNvPr id="26" name="Shape 19"/>
          <p:cNvSpPr/>
          <p:nvPr/>
        </p:nvSpPr>
        <p:spPr>
          <a:xfrm>
            <a:off x="457200" y="4023360"/>
            <a:ext cx="411480" cy="411480"/>
          </a:xfrm>
          <a:prstGeom prst="ellipse">
            <a:avLst/>
          </a:prstGeom>
          <a:solidFill>
            <a:srgbClr val="F1F6F6"/>
          </a:solidFill>
          <a:ln w="12700">
            <a:solidFill>
              <a:srgbClr val="F1F6F6"/>
            </a:solidFill>
            <a:prstDash val="solid"/>
          </a:ln>
        </p:spPr>
      </p:sp>
      <p:pic>
        <p:nvPicPr>
          <p:cNvPr id="27" name="Image 5" descr="preencoded.png">    </p:cNvPr>
          <p:cNvPicPr>
            <a:picLocks noChangeAspect="1"/>
          </p:cNvPicPr>
          <p:nvPr/>
        </p:nvPicPr>
        <p:blipFill>
          <a:blip r:embed="rId6"/>
          <a:stretch>
            <a:fillRect/>
          </a:stretch>
        </p:blipFill>
        <p:spPr>
          <a:xfrm>
            <a:off x="560070" y="4126230"/>
            <a:ext cx="205740" cy="205740"/>
          </a:xfrm>
          <a:prstGeom prst="rect">
            <a:avLst/>
          </a:prstGeom>
        </p:spPr>
      </p:pic>
      <p:sp>
        <p:nvSpPr>
          <p:cNvPr id="28" name="Text 20"/>
          <p:cNvSpPr txBox="1"/>
          <p:nvPr/>
        </p:nvSpPr>
        <p:spPr>
          <a:xfrm>
            <a:off x="960120" y="4023360"/>
            <a:ext cx="3566160" cy="411480"/>
          </a:xfrm>
          <a:prstGeom prst="rect">
            <a:avLst/>
          </a:prstGeom>
          <a:noFill/>
          <a:ln/>
        </p:spPr>
        <p:txBody>
          <a:bodyPr wrap="square" lIns="0" tIns="0" rIns="0" bIns="0" rtlCol="0" anchor="ctr"/>
          <a:lstStyle/>
          <a:p>
            <a:pPr indent="0" marL="0">
              <a:buNone/>
            </a:pPr>
            <a:r>
              <a:rPr lang="en-US" sz="1150" dirty="0">
                <a:solidFill>
                  <a:srgbClr val="0B2B2A"/>
                </a:solidFill>
                <a:latin typeface="Calibri" pitchFamily="34" charset="0"/>
                <a:ea typeface="Calibri" pitchFamily="34" charset="-122"/>
                <a:cs typeface="Calibri" pitchFamily="34" charset="-120"/>
              </a:rPr>
              <a:t>Stuck? GitHub Codespaces = the same VS Code in your browser</a:t>
            </a:r>
            <a:endParaRPr lang="en-US" sz="1150" dirty="0"/>
          </a:p>
        </p:txBody>
      </p:sp>
      <p:sp>
        <p:nvSpPr>
          <p:cNvPr id="29" name="Shape 21"/>
          <p:cNvSpPr/>
          <p:nvPr/>
        </p:nvSpPr>
        <p:spPr>
          <a:xfrm>
            <a:off x="4663440" y="4023360"/>
            <a:ext cx="411480" cy="411480"/>
          </a:xfrm>
          <a:prstGeom prst="ellipse">
            <a:avLst/>
          </a:prstGeom>
          <a:solidFill>
            <a:srgbClr val="FFF7E6"/>
          </a:solidFill>
          <a:ln w="12700">
            <a:solidFill>
              <a:srgbClr val="FFF7E6"/>
            </a:solidFill>
            <a:prstDash val="solid"/>
          </a:ln>
        </p:spPr>
      </p:sp>
      <p:pic>
        <p:nvPicPr>
          <p:cNvPr id="30" name="Image 6" descr="preencoded.png">    </p:cNvPr>
          <p:cNvPicPr>
            <a:picLocks noChangeAspect="1"/>
          </p:cNvPicPr>
          <p:nvPr/>
        </p:nvPicPr>
        <p:blipFill>
          <a:blip r:embed="rId7"/>
          <a:stretch>
            <a:fillRect/>
          </a:stretch>
        </p:blipFill>
        <p:spPr>
          <a:xfrm>
            <a:off x="4766310" y="4126230"/>
            <a:ext cx="205740" cy="205740"/>
          </a:xfrm>
          <a:prstGeom prst="rect">
            <a:avLst/>
          </a:prstGeom>
        </p:spPr>
      </p:pic>
      <p:sp>
        <p:nvSpPr>
          <p:cNvPr id="31" name="Text 22"/>
          <p:cNvSpPr txBox="1"/>
          <p:nvPr/>
        </p:nvSpPr>
        <p:spPr>
          <a:xfrm>
            <a:off x="5166360" y="4023360"/>
            <a:ext cx="3520440" cy="411480"/>
          </a:xfrm>
          <a:prstGeom prst="rect">
            <a:avLst/>
          </a:prstGeom>
          <a:noFill/>
          <a:ln/>
        </p:spPr>
        <p:txBody>
          <a:bodyPr wrap="square" lIns="0" tIns="0" rIns="0" bIns="0" rtlCol="0" anchor="ctr"/>
          <a:lstStyle/>
          <a:p>
            <a:pPr indent="0" marL="0">
              <a:buNone/>
            </a:pPr>
            <a:r>
              <a:rPr lang="en-US" sz="1150" dirty="0">
                <a:solidFill>
                  <a:srgbClr val="0B2B2A"/>
                </a:solidFill>
                <a:latin typeface="Calibri" pitchFamily="34" charset="0"/>
                <a:ea typeface="Calibri" pitchFamily="34" charset="-122"/>
                <a:cs typeface="Calibri" pitchFamily="34" charset="-120"/>
              </a:rPr>
              <a:t>Passwords live only in .env — ignored by Git</a:t>
            </a:r>
            <a:endParaRPr lang="en-US" sz="11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First 3 minutes: get today's materials</a:t>
            </a:r>
            <a:endParaRPr lang="en-US" sz="2800" dirty="0"/>
          </a:p>
        </p:txBody>
      </p:sp>
      <p:sp>
        <p:nvSpPr>
          <p:cNvPr id="3" name="Text 1"/>
          <p:cNvSpPr txBox="1"/>
          <p:nvPr/>
        </p:nvSpPr>
        <p:spPr>
          <a:xfrm>
            <a:off x="457200" y="1051560"/>
            <a:ext cx="8229600" cy="365760"/>
          </a:xfrm>
          <a:prstGeom prst="rect">
            <a:avLst/>
          </a:prstGeom>
          <a:noFill/>
          <a:ln/>
        </p:spPr>
        <p:txBody>
          <a:bodyPr wrap="square" lIns="0" tIns="0" rIns="0" bIns="0" rtlCol="0" anchor="t"/>
          <a:lstStyle/>
          <a:p>
            <a:pPr indent="0" marL="0">
              <a:buNone/>
            </a:pPr>
            <a:r>
              <a:rPr lang="en-US" sz="1400" dirty="0">
                <a:solidFill>
                  <a:srgbClr val="0B2B2A"/>
                </a:solidFill>
                <a:latin typeface="Calibri" pitchFamily="34" charset="0"/>
                <a:ea typeface="Calibri" pitchFamily="34" charset="-122"/>
                <a:cs typeface="Calibri" pitchFamily="34" charset="-120"/>
              </a:rPr>
              <a:t>Your fork was created before the materials were published. Pull them in now:</a:t>
            </a:r>
            <a:endParaRPr lang="en-US" sz="1400" dirty="0"/>
          </a:p>
        </p:txBody>
      </p:sp>
      <p:sp>
        <p:nvSpPr>
          <p:cNvPr id="4" name="Shape 2"/>
          <p:cNvSpPr/>
          <p:nvPr/>
        </p:nvSpPr>
        <p:spPr>
          <a:xfrm>
            <a:off x="457200" y="1600200"/>
            <a:ext cx="2606040" cy="1965960"/>
          </a:xfrm>
          <a:prstGeom prst="roundRect">
            <a:avLst>
              <a:gd name="adj" fmla="val 5581"/>
            </a:avLst>
          </a:prstGeom>
          <a:solidFill>
            <a:srgbClr val="F1F6F6"/>
          </a:solidFill>
          <a:ln w="12700">
            <a:solidFill>
              <a:srgbClr val="F1F6F6"/>
            </a:solidFill>
            <a:prstDash val="solid"/>
          </a:ln>
        </p:spPr>
      </p:sp>
      <p:sp>
        <p:nvSpPr>
          <p:cNvPr id="5" name="Shape 3"/>
          <p:cNvSpPr/>
          <p:nvPr/>
        </p:nvSpPr>
        <p:spPr>
          <a:xfrm>
            <a:off x="640080" y="1783080"/>
            <a:ext cx="548640" cy="54864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777240" y="1920240"/>
            <a:ext cx="274320" cy="274320"/>
          </a:xfrm>
          <a:prstGeom prst="rect">
            <a:avLst/>
          </a:prstGeom>
        </p:spPr>
      </p:pic>
      <p:sp>
        <p:nvSpPr>
          <p:cNvPr id="7" name="Text 4"/>
          <p:cNvSpPr txBox="1"/>
          <p:nvPr/>
        </p:nvSpPr>
        <p:spPr>
          <a:xfrm>
            <a:off x="640080" y="2468880"/>
            <a:ext cx="2286000" cy="347472"/>
          </a:xfrm>
          <a:prstGeom prst="rect">
            <a:avLst/>
          </a:prstGeom>
          <a:noFill/>
          <a:ln/>
        </p:spPr>
        <p:txBody>
          <a:bodyPr wrap="square" lIns="0" tIns="0" rIns="0" bIns="0" rtlCol="0" anchor="t"/>
          <a:lstStyle/>
          <a:p>
            <a:pPr indent="0" marL="0">
              <a:buNone/>
            </a:pPr>
            <a:r>
              <a:rPr lang="en-US" sz="1500" b="1" dirty="0">
                <a:solidFill>
                  <a:srgbClr val="0B2B2A"/>
                </a:solidFill>
                <a:latin typeface="Calibri" pitchFamily="34" charset="0"/>
                <a:ea typeface="Calibri" pitchFamily="34" charset="-122"/>
                <a:cs typeface="Calibri" pitchFamily="34" charset="-120"/>
              </a:rPr>
              <a:t>1 · Sync fork</a:t>
            </a:r>
            <a:endParaRPr lang="en-US" sz="1500" dirty="0"/>
          </a:p>
        </p:txBody>
      </p:sp>
      <p:sp>
        <p:nvSpPr>
          <p:cNvPr id="8" name="Text 5"/>
          <p:cNvSpPr txBox="1"/>
          <p:nvPr/>
        </p:nvSpPr>
        <p:spPr>
          <a:xfrm>
            <a:off x="640080" y="2834640"/>
            <a:ext cx="2286000" cy="68580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On YOUR fork's GitHub page: Sync fork → Update branch</a:t>
            </a:r>
            <a:endParaRPr lang="en-US" sz="1150" dirty="0"/>
          </a:p>
        </p:txBody>
      </p:sp>
      <p:sp>
        <p:nvSpPr>
          <p:cNvPr id="9" name="Shape 6"/>
          <p:cNvSpPr/>
          <p:nvPr/>
        </p:nvSpPr>
        <p:spPr>
          <a:xfrm>
            <a:off x="3246120" y="1600200"/>
            <a:ext cx="2606040" cy="1965960"/>
          </a:xfrm>
          <a:prstGeom prst="roundRect">
            <a:avLst>
              <a:gd name="adj" fmla="val 5581"/>
            </a:avLst>
          </a:prstGeom>
          <a:solidFill>
            <a:srgbClr val="F1F6F6"/>
          </a:solidFill>
          <a:ln w="12700">
            <a:solidFill>
              <a:srgbClr val="F1F6F6"/>
            </a:solidFill>
            <a:prstDash val="solid"/>
          </a:ln>
        </p:spPr>
      </p:sp>
      <p:sp>
        <p:nvSpPr>
          <p:cNvPr id="10" name="Shape 7"/>
          <p:cNvSpPr/>
          <p:nvPr/>
        </p:nvSpPr>
        <p:spPr>
          <a:xfrm>
            <a:off x="3429000" y="1783080"/>
            <a:ext cx="548640" cy="54864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3566160" y="1920240"/>
            <a:ext cx="274320" cy="274320"/>
          </a:xfrm>
          <a:prstGeom prst="rect">
            <a:avLst/>
          </a:prstGeom>
        </p:spPr>
      </p:pic>
      <p:sp>
        <p:nvSpPr>
          <p:cNvPr id="12" name="Text 8"/>
          <p:cNvSpPr txBox="1"/>
          <p:nvPr/>
        </p:nvSpPr>
        <p:spPr>
          <a:xfrm>
            <a:off x="3429000" y="2468880"/>
            <a:ext cx="2286000" cy="347472"/>
          </a:xfrm>
          <a:prstGeom prst="rect">
            <a:avLst/>
          </a:prstGeom>
          <a:noFill/>
          <a:ln/>
        </p:spPr>
        <p:txBody>
          <a:bodyPr wrap="square" lIns="0" tIns="0" rIns="0" bIns="0" rtlCol="0" anchor="t"/>
          <a:lstStyle/>
          <a:p>
            <a:pPr indent="0" marL="0">
              <a:buNone/>
            </a:pPr>
            <a:r>
              <a:rPr lang="en-US" sz="1500" b="1" dirty="0">
                <a:solidFill>
                  <a:srgbClr val="0B2B2A"/>
                </a:solidFill>
                <a:latin typeface="Calibri" pitchFamily="34" charset="0"/>
                <a:ea typeface="Calibri" pitchFamily="34" charset="-122"/>
                <a:cs typeface="Calibri" pitchFamily="34" charset="-120"/>
              </a:rPr>
              <a:t>2 · Pull</a:t>
            </a:r>
            <a:endParaRPr lang="en-US" sz="1500" dirty="0"/>
          </a:p>
        </p:txBody>
      </p:sp>
      <p:sp>
        <p:nvSpPr>
          <p:cNvPr id="13" name="Text 9"/>
          <p:cNvSpPr txBox="1"/>
          <p:nvPr/>
        </p:nvSpPr>
        <p:spPr>
          <a:xfrm>
            <a:off x="3429000" y="2834640"/>
            <a:ext cx="2286000" cy="68580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VS Code: Source Control → … → Pull   (or run git pull in the terminal)</a:t>
            </a:r>
            <a:endParaRPr lang="en-US" sz="1150" dirty="0"/>
          </a:p>
        </p:txBody>
      </p:sp>
      <p:sp>
        <p:nvSpPr>
          <p:cNvPr id="14" name="Shape 10"/>
          <p:cNvSpPr/>
          <p:nvPr/>
        </p:nvSpPr>
        <p:spPr>
          <a:xfrm>
            <a:off x="6035040" y="1600200"/>
            <a:ext cx="2606040" cy="1965960"/>
          </a:xfrm>
          <a:prstGeom prst="roundRect">
            <a:avLst>
              <a:gd name="adj" fmla="val 5581"/>
            </a:avLst>
          </a:prstGeom>
          <a:solidFill>
            <a:srgbClr val="F1F6F6"/>
          </a:solidFill>
          <a:ln w="12700">
            <a:solidFill>
              <a:srgbClr val="F1F6F6"/>
            </a:solidFill>
            <a:prstDash val="solid"/>
          </a:ln>
        </p:spPr>
      </p:sp>
      <p:sp>
        <p:nvSpPr>
          <p:cNvPr id="15" name="Shape 11"/>
          <p:cNvSpPr/>
          <p:nvPr/>
        </p:nvSpPr>
        <p:spPr>
          <a:xfrm>
            <a:off x="6217920" y="1783080"/>
            <a:ext cx="548640" cy="548640"/>
          </a:xfrm>
          <a:prstGeom prst="ellipse">
            <a:avLst/>
          </a:prstGeom>
          <a:solidFill>
            <a:srgbClr val="0F766E"/>
          </a:solidFill>
          <a:ln w="12700">
            <a:solidFill>
              <a:srgbClr val="0F766E"/>
            </a:solidFill>
            <a:prstDash val="solid"/>
          </a:ln>
        </p:spPr>
      </p:sp>
      <p:pic>
        <p:nvPicPr>
          <p:cNvPr id="16" name="Image 2" descr="preencoded.png">    </p:cNvPr>
          <p:cNvPicPr>
            <a:picLocks noChangeAspect="1"/>
          </p:cNvPicPr>
          <p:nvPr/>
        </p:nvPicPr>
        <p:blipFill>
          <a:blip r:embed="rId3"/>
          <a:stretch>
            <a:fillRect/>
          </a:stretch>
        </p:blipFill>
        <p:spPr>
          <a:xfrm>
            <a:off x="6355080" y="1920240"/>
            <a:ext cx="274320" cy="274320"/>
          </a:xfrm>
          <a:prstGeom prst="rect">
            <a:avLst/>
          </a:prstGeom>
        </p:spPr>
      </p:pic>
      <p:sp>
        <p:nvSpPr>
          <p:cNvPr id="17" name="Text 12"/>
          <p:cNvSpPr txBox="1"/>
          <p:nvPr/>
        </p:nvSpPr>
        <p:spPr>
          <a:xfrm>
            <a:off x="6217920" y="2468880"/>
            <a:ext cx="2286000" cy="347472"/>
          </a:xfrm>
          <a:prstGeom prst="rect">
            <a:avLst/>
          </a:prstGeom>
          <a:noFill/>
          <a:ln/>
        </p:spPr>
        <p:txBody>
          <a:bodyPr wrap="square" lIns="0" tIns="0" rIns="0" bIns="0" rtlCol="0" anchor="t"/>
          <a:lstStyle/>
          <a:p>
            <a:pPr indent="0" marL="0">
              <a:buNone/>
            </a:pPr>
            <a:r>
              <a:rPr lang="en-US" sz="1500" b="1" dirty="0">
                <a:solidFill>
                  <a:srgbClr val="0B2B2A"/>
                </a:solidFill>
                <a:latin typeface="Calibri" pitchFamily="34" charset="0"/>
                <a:ea typeface="Calibri" pitchFamily="34" charset="-122"/>
                <a:cs typeface="Calibri" pitchFamily="34" charset="-120"/>
              </a:rPr>
              <a:t>3 · Check</a:t>
            </a:r>
            <a:endParaRPr lang="en-US" sz="1500" dirty="0"/>
          </a:p>
        </p:txBody>
      </p:sp>
      <p:sp>
        <p:nvSpPr>
          <p:cNvPr id="18" name="Text 13"/>
          <p:cNvSpPr txBox="1"/>
          <p:nvPr/>
        </p:nvSpPr>
        <p:spPr>
          <a:xfrm>
            <a:off x="6217920" y="2834640"/>
            <a:ext cx="2286000" cy="68580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Explorer now shows data/, notebooks/, sql/, dashboard/</a:t>
            </a:r>
            <a:endParaRPr lang="en-US" sz="1150" dirty="0"/>
          </a:p>
        </p:txBody>
      </p:sp>
      <p:sp>
        <p:nvSpPr>
          <p:cNvPr id="19" name="Shape 14"/>
          <p:cNvSpPr/>
          <p:nvPr/>
        </p:nvSpPr>
        <p:spPr>
          <a:xfrm>
            <a:off x="457200" y="3794760"/>
            <a:ext cx="8229600" cy="640080"/>
          </a:xfrm>
          <a:prstGeom prst="roundRect">
            <a:avLst>
              <a:gd name="adj" fmla="val 17143"/>
            </a:avLst>
          </a:prstGeom>
          <a:solidFill>
            <a:srgbClr val="FFF7E6"/>
          </a:solidFill>
          <a:ln w="12700">
            <a:solidFill>
              <a:srgbClr val="FFF7E6"/>
            </a:solidFill>
            <a:prstDash val="solid"/>
          </a:ln>
        </p:spPr>
      </p:sp>
      <p:sp>
        <p:nvSpPr>
          <p:cNvPr id="20" name="Text 15"/>
          <p:cNvSpPr txBox="1"/>
          <p:nvPr/>
        </p:nvSpPr>
        <p:spPr>
          <a:xfrm>
            <a:off x="685800" y="3904488"/>
            <a:ext cx="7772400" cy="411480"/>
          </a:xfrm>
          <a:prstGeom prst="rect">
            <a:avLst/>
          </a:prstGeom>
          <a:noFill/>
          <a:ln/>
        </p:spPr>
        <p:txBody>
          <a:bodyPr wrap="square" lIns="0" tIns="0" rIns="0" bIns="0" rtlCol="0" anchor="ctr"/>
          <a:lstStyle/>
          <a:p>
            <a:pPr indent="0" marL="0">
              <a:buNone/>
            </a:pPr>
            <a:r>
              <a:rPr lang="en-US" sz="1300" b="1" dirty="0">
                <a:solidFill>
                  <a:srgbClr val="0B2B2A"/>
                </a:solidFill>
                <a:latin typeface="Calibri" pitchFamily="34" charset="0"/>
                <a:ea typeface="Calibri" pitchFamily="34" charset="-122"/>
                <a:cs typeface="Calibri" pitchFamily="34" charset="-120"/>
              </a:rPr>
              <a:t>No reinstall needed: </a:t>
            </a:r>
            <a:pPr indent="0" marL="0">
              <a:buNone/>
            </a:pPr>
            <a:r>
              <a:rPr lang="en-US" sz="1300" dirty="0">
                <a:solidFill>
                  <a:srgbClr val="0B2B2A"/>
                </a:solidFill>
                <a:latin typeface="Calibri" pitchFamily="34" charset="0"/>
                <a:ea typeface="Calibri" pitchFamily="34" charset="-122"/>
                <a:cs typeface="Calibri" pitchFamily="34" charset="-120"/>
              </a:rPr>
              <a:t>requirements.txt is unchanged. Problem? Raise your hand — an assistant will come to you.</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Your workspace: a 15-minute VS Code tour</a:t>
            </a:r>
            <a:endParaRPr lang="en-US" sz="2800" dirty="0"/>
          </a:p>
        </p:txBody>
      </p:sp>
      <p:sp>
        <p:nvSpPr>
          <p:cNvPr id="3" name="Shape 1"/>
          <p:cNvSpPr/>
          <p:nvPr/>
        </p:nvSpPr>
        <p:spPr>
          <a:xfrm>
            <a:off x="457200" y="1097280"/>
            <a:ext cx="4023360" cy="1417320"/>
          </a:xfrm>
          <a:prstGeom prst="roundRect">
            <a:avLst>
              <a:gd name="adj" fmla="val 7742"/>
            </a:avLst>
          </a:prstGeom>
          <a:solidFill>
            <a:srgbClr val="F1F6F6"/>
          </a:solidFill>
          <a:ln w="12700">
            <a:solidFill>
              <a:srgbClr val="F1F6F6"/>
            </a:solidFill>
            <a:prstDash val="solid"/>
          </a:ln>
        </p:spPr>
      </p:sp>
      <p:sp>
        <p:nvSpPr>
          <p:cNvPr id="4" name="Shape 2"/>
          <p:cNvSpPr/>
          <p:nvPr/>
        </p:nvSpPr>
        <p:spPr>
          <a:xfrm>
            <a:off x="640080" y="1325880"/>
            <a:ext cx="594360" cy="594360"/>
          </a:xfrm>
          <a:prstGeom prst="ellipse">
            <a:avLst/>
          </a:prstGeom>
          <a:solidFill>
            <a:srgbClr val="0F766E"/>
          </a:solidFill>
          <a:ln w="12700">
            <a:solidFill>
              <a:srgbClr val="0F766E"/>
            </a:solidFill>
            <a:prstDash val="solid"/>
          </a:ln>
        </p:spPr>
      </p:sp>
      <p:pic>
        <p:nvPicPr>
          <p:cNvPr id="5" name="Image 0" descr="preencoded.png">    </p:cNvPr>
          <p:cNvPicPr>
            <a:picLocks noChangeAspect="1"/>
          </p:cNvPicPr>
          <p:nvPr/>
        </p:nvPicPr>
        <p:blipFill>
          <a:blip r:embed="rId1"/>
          <a:stretch>
            <a:fillRect/>
          </a:stretch>
        </p:blipFill>
        <p:spPr>
          <a:xfrm>
            <a:off x="788670" y="1474470"/>
            <a:ext cx="297180" cy="297180"/>
          </a:xfrm>
          <a:prstGeom prst="rect">
            <a:avLst/>
          </a:prstGeom>
        </p:spPr>
      </p:pic>
      <p:sp>
        <p:nvSpPr>
          <p:cNvPr id="6" name="Text 3"/>
          <p:cNvSpPr txBox="1"/>
          <p:nvPr/>
        </p:nvSpPr>
        <p:spPr>
          <a:xfrm>
            <a:off x="1417320" y="1298448"/>
            <a:ext cx="2926080" cy="347472"/>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Explorer</a:t>
            </a:r>
            <a:endParaRPr lang="en-US" sz="1600" dirty="0"/>
          </a:p>
        </p:txBody>
      </p:sp>
      <p:sp>
        <p:nvSpPr>
          <p:cNvPr id="7" name="Text 4"/>
          <p:cNvSpPr txBox="1"/>
          <p:nvPr/>
        </p:nvSpPr>
        <p:spPr>
          <a:xfrm>
            <a:off x="1417320" y="1627632"/>
            <a:ext cx="2926080" cy="274320"/>
          </a:xfrm>
          <a:prstGeom prst="rect">
            <a:avLst/>
          </a:prstGeom>
          <a:noFill/>
          <a:ln/>
        </p:spPr>
        <p:txBody>
          <a:bodyPr wrap="square" lIns="0" tIns="0" rIns="0" bIns="0" rtlCol="0" anchor="t"/>
          <a:lstStyle/>
          <a:p>
            <a:pPr indent="0" marL="0">
              <a:buNone/>
            </a:pPr>
            <a:r>
              <a:rPr lang="en-US" sz="1100" b="1" dirty="0">
                <a:solidFill>
                  <a:srgbClr val="F59E0B"/>
                </a:solidFill>
                <a:latin typeface="Courier New" pitchFamily="34" charset="0"/>
                <a:ea typeface="Courier New" pitchFamily="34" charset="-122"/>
                <a:cs typeface="Courier New" pitchFamily="34" charset="-120"/>
              </a:rPr>
              <a:t>Ctrl+Shift+E</a:t>
            </a:r>
            <a:endParaRPr lang="en-US" sz="1100" dirty="0"/>
          </a:p>
        </p:txBody>
      </p:sp>
      <p:sp>
        <p:nvSpPr>
          <p:cNvPr id="8" name="Text 5"/>
          <p:cNvSpPr txBox="1"/>
          <p:nvPr/>
        </p:nvSpPr>
        <p:spPr>
          <a:xfrm>
            <a:off x="1417320" y="1920240"/>
            <a:ext cx="2926080" cy="5029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data/, notebooks/, sql/, dashboard/ — all materials in one folder</a:t>
            </a:r>
            <a:endParaRPr lang="en-US" sz="1150" dirty="0"/>
          </a:p>
        </p:txBody>
      </p:sp>
      <p:sp>
        <p:nvSpPr>
          <p:cNvPr id="9" name="Shape 6"/>
          <p:cNvSpPr/>
          <p:nvPr/>
        </p:nvSpPr>
        <p:spPr>
          <a:xfrm>
            <a:off x="4663440" y="1097280"/>
            <a:ext cx="4023360" cy="1417320"/>
          </a:xfrm>
          <a:prstGeom prst="roundRect">
            <a:avLst>
              <a:gd name="adj" fmla="val 7742"/>
            </a:avLst>
          </a:prstGeom>
          <a:solidFill>
            <a:srgbClr val="F1F6F6"/>
          </a:solidFill>
          <a:ln w="12700">
            <a:solidFill>
              <a:srgbClr val="F1F6F6"/>
            </a:solidFill>
            <a:prstDash val="solid"/>
          </a:ln>
        </p:spPr>
      </p:sp>
      <p:sp>
        <p:nvSpPr>
          <p:cNvPr id="10" name="Shape 7"/>
          <p:cNvSpPr/>
          <p:nvPr/>
        </p:nvSpPr>
        <p:spPr>
          <a:xfrm>
            <a:off x="4846320" y="1325880"/>
            <a:ext cx="594360" cy="59436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4994910" y="1474470"/>
            <a:ext cx="297180" cy="297180"/>
          </a:xfrm>
          <a:prstGeom prst="rect">
            <a:avLst/>
          </a:prstGeom>
        </p:spPr>
      </p:pic>
      <p:sp>
        <p:nvSpPr>
          <p:cNvPr id="12" name="Text 8"/>
          <p:cNvSpPr txBox="1"/>
          <p:nvPr/>
        </p:nvSpPr>
        <p:spPr>
          <a:xfrm>
            <a:off x="5623560" y="1298448"/>
            <a:ext cx="2926080" cy="347472"/>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Kernel picker</a:t>
            </a:r>
            <a:endParaRPr lang="en-US" sz="1600" dirty="0"/>
          </a:p>
        </p:txBody>
      </p:sp>
      <p:sp>
        <p:nvSpPr>
          <p:cNvPr id="13" name="Text 9"/>
          <p:cNvSpPr txBox="1"/>
          <p:nvPr/>
        </p:nvSpPr>
        <p:spPr>
          <a:xfrm>
            <a:off x="5623560" y="1627632"/>
            <a:ext cx="2926080" cy="274320"/>
          </a:xfrm>
          <a:prstGeom prst="rect">
            <a:avLst/>
          </a:prstGeom>
          <a:noFill/>
          <a:ln/>
        </p:spPr>
        <p:txBody>
          <a:bodyPr wrap="square" lIns="0" tIns="0" rIns="0" bIns="0" rtlCol="0" anchor="t"/>
          <a:lstStyle/>
          <a:p>
            <a:pPr indent="0" marL="0">
              <a:buNone/>
            </a:pPr>
            <a:r>
              <a:rPr lang="en-US" sz="1100" b="1" dirty="0">
                <a:solidFill>
                  <a:srgbClr val="F59E0B"/>
                </a:solidFill>
                <a:latin typeface="Courier New" pitchFamily="34" charset="0"/>
                <a:ea typeface="Courier New" pitchFamily="34" charset="-122"/>
                <a:cs typeface="Courier New" pitchFamily="34" charset="-120"/>
              </a:rPr>
              <a:t>top-right of a notebook</a:t>
            </a:r>
            <a:endParaRPr lang="en-US" sz="1100" dirty="0"/>
          </a:p>
        </p:txBody>
      </p:sp>
      <p:sp>
        <p:nvSpPr>
          <p:cNvPr id="14" name="Text 10"/>
          <p:cNvSpPr txBox="1"/>
          <p:nvPr/>
        </p:nvSpPr>
        <p:spPr>
          <a:xfrm>
            <a:off x="5623560" y="1920240"/>
            <a:ext cx="2926080" cy="5029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Always select .venv so notebooks use your installed libraries</a:t>
            </a:r>
            <a:endParaRPr lang="en-US" sz="1150" dirty="0"/>
          </a:p>
        </p:txBody>
      </p:sp>
      <p:sp>
        <p:nvSpPr>
          <p:cNvPr id="15" name="Shape 11"/>
          <p:cNvSpPr/>
          <p:nvPr/>
        </p:nvSpPr>
        <p:spPr>
          <a:xfrm>
            <a:off x="457200" y="2697480"/>
            <a:ext cx="4023360" cy="1417320"/>
          </a:xfrm>
          <a:prstGeom prst="roundRect">
            <a:avLst>
              <a:gd name="adj" fmla="val 7742"/>
            </a:avLst>
          </a:prstGeom>
          <a:solidFill>
            <a:srgbClr val="F1F6F6"/>
          </a:solidFill>
          <a:ln w="12700">
            <a:solidFill>
              <a:srgbClr val="F1F6F6"/>
            </a:solidFill>
            <a:prstDash val="solid"/>
          </a:ln>
        </p:spPr>
      </p:sp>
      <p:sp>
        <p:nvSpPr>
          <p:cNvPr id="16" name="Shape 12"/>
          <p:cNvSpPr/>
          <p:nvPr/>
        </p:nvSpPr>
        <p:spPr>
          <a:xfrm>
            <a:off x="640080" y="2926080"/>
            <a:ext cx="594360" cy="594360"/>
          </a:xfrm>
          <a:prstGeom prst="ellipse">
            <a:avLst/>
          </a:prstGeom>
          <a:solidFill>
            <a:srgbClr val="0F766E"/>
          </a:solidFill>
          <a:ln w="12700">
            <a:solidFill>
              <a:srgbClr val="0F766E"/>
            </a:solidFill>
            <a:prstDash val="solid"/>
          </a:ln>
        </p:spPr>
      </p:sp>
      <p:pic>
        <p:nvPicPr>
          <p:cNvPr id="17" name="Image 2" descr="preencoded.png">    </p:cNvPr>
          <p:cNvPicPr>
            <a:picLocks noChangeAspect="1"/>
          </p:cNvPicPr>
          <p:nvPr/>
        </p:nvPicPr>
        <p:blipFill>
          <a:blip r:embed="rId3"/>
          <a:stretch>
            <a:fillRect/>
          </a:stretch>
        </p:blipFill>
        <p:spPr>
          <a:xfrm>
            <a:off x="788670" y="3074670"/>
            <a:ext cx="297180" cy="297180"/>
          </a:xfrm>
          <a:prstGeom prst="rect">
            <a:avLst/>
          </a:prstGeom>
        </p:spPr>
      </p:pic>
      <p:sp>
        <p:nvSpPr>
          <p:cNvPr id="18" name="Text 13"/>
          <p:cNvSpPr txBox="1"/>
          <p:nvPr/>
        </p:nvSpPr>
        <p:spPr>
          <a:xfrm>
            <a:off x="1417320" y="2898648"/>
            <a:ext cx="2926080" cy="347472"/>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Terminal</a:t>
            </a:r>
            <a:endParaRPr lang="en-US" sz="1600" dirty="0"/>
          </a:p>
        </p:txBody>
      </p:sp>
      <p:sp>
        <p:nvSpPr>
          <p:cNvPr id="19" name="Text 14"/>
          <p:cNvSpPr txBox="1"/>
          <p:nvPr/>
        </p:nvSpPr>
        <p:spPr>
          <a:xfrm>
            <a:off x="1417320" y="3227832"/>
            <a:ext cx="2926080" cy="274320"/>
          </a:xfrm>
          <a:prstGeom prst="rect">
            <a:avLst/>
          </a:prstGeom>
          <a:noFill/>
          <a:ln/>
        </p:spPr>
        <p:txBody>
          <a:bodyPr wrap="square" lIns="0" tIns="0" rIns="0" bIns="0" rtlCol="0" anchor="t"/>
          <a:lstStyle/>
          <a:p>
            <a:pPr indent="0" marL="0">
              <a:buNone/>
            </a:pPr>
            <a:r>
              <a:rPr lang="en-US" sz="1100" b="1" dirty="0">
                <a:solidFill>
                  <a:srgbClr val="F59E0B"/>
                </a:solidFill>
                <a:latin typeface="Courier New" pitchFamily="34" charset="0"/>
                <a:ea typeface="Courier New" pitchFamily="34" charset="-122"/>
                <a:cs typeface="Courier New" pitchFamily="34" charset="-120"/>
              </a:rPr>
              <a:t>Ctrl+`</a:t>
            </a:r>
            <a:endParaRPr lang="en-US" sz="1100" dirty="0"/>
          </a:p>
        </p:txBody>
      </p:sp>
      <p:sp>
        <p:nvSpPr>
          <p:cNvPr id="20" name="Text 15"/>
          <p:cNvSpPr txBox="1"/>
          <p:nvPr/>
        </p:nvSpPr>
        <p:spPr>
          <a:xfrm>
            <a:off x="1417320" y="3520440"/>
            <a:ext cx="2926080" cy="5029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Run git pull, streamlit run, pip — the .venv activates automatically</a:t>
            </a:r>
            <a:endParaRPr lang="en-US" sz="1150" dirty="0"/>
          </a:p>
        </p:txBody>
      </p:sp>
      <p:sp>
        <p:nvSpPr>
          <p:cNvPr id="21" name="Shape 16"/>
          <p:cNvSpPr/>
          <p:nvPr/>
        </p:nvSpPr>
        <p:spPr>
          <a:xfrm>
            <a:off x="4663440" y="2697480"/>
            <a:ext cx="4023360" cy="1417320"/>
          </a:xfrm>
          <a:prstGeom prst="roundRect">
            <a:avLst>
              <a:gd name="adj" fmla="val 7742"/>
            </a:avLst>
          </a:prstGeom>
          <a:solidFill>
            <a:srgbClr val="F1F6F6"/>
          </a:solidFill>
          <a:ln w="12700">
            <a:solidFill>
              <a:srgbClr val="F1F6F6"/>
            </a:solidFill>
            <a:prstDash val="solid"/>
          </a:ln>
        </p:spPr>
      </p:sp>
      <p:sp>
        <p:nvSpPr>
          <p:cNvPr id="22" name="Shape 17"/>
          <p:cNvSpPr/>
          <p:nvPr/>
        </p:nvSpPr>
        <p:spPr>
          <a:xfrm>
            <a:off x="4846320" y="2926080"/>
            <a:ext cx="594360" cy="594360"/>
          </a:xfrm>
          <a:prstGeom prst="ellipse">
            <a:avLst/>
          </a:prstGeom>
          <a:solidFill>
            <a:srgbClr val="0F766E"/>
          </a:solidFill>
          <a:ln w="12700">
            <a:solidFill>
              <a:srgbClr val="0F766E"/>
            </a:solidFill>
            <a:prstDash val="solid"/>
          </a:ln>
        </p:spPr>
      </p:sp>
      <p:pic>
        <p:nvPicPr>
          <p:cNvPr id="23" name="Image 3" descr="preencoded.png">    </p:cNvPr>
          <p:cNvPicPr>
            <a:picLocks noChangeAspect="1"/>
          </p:cNvPicPr>
          <p:nvPr/>
        </p:nvPicPr>
        <p:blipFill>
          <a:blip r:embed="rId4"/>
          <a:stretch>
            <a:fillRect/>
          </a:stretch>
        </p:blipFill>
        <p:spPr>
          <a:xfrm>
            <a:off x="4994910" y="3074670"/>
            <a:ext cx="297180" cy="297180"/>
          </a:xfrm>
          <a:prstGeom prst="rect">
            <a:avLst/>
          </a:prstGeom>
        </p:spPr>
      </p:pic>
      <p:sp>
        <p:nvSpPr>
          <p:cNvPr id="24" name="Text 18"/>
          <p:cNvSpPr txBox="1"/>
          <p:nvPr/>
        </p:nvSpPr>
        <p:spPr>
          <a:xfrm>
            <a:off x="5623560" y="2898648"/>
            <a:ext cx="2926080" cy="347472"/>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Source Control</a:t>
            </a:r>
            <a:endParaRPr lang="en-US" sz="1600" dirty="0"/>
          </a:p>
        </p:txBody>
      </p:sp>
      <p:sp>
        <p:nvSpPr>
          <p:cNvPr id="25" name="Text 19"/>
          <p:cNvSpPr txBox="1"/>
          <p:nvPr/>
        </p:nvSpPr>
        <p:spPr>
          <a:xfrm>
            <a:off x="5623560" y="3227832"/>
            <a:ext cx="2926080" cy="274320"/>
          </a:xfrm>
          <a:prstGeom prst="rect">
            <a:avLst/>
          </a:prstGeom>
          <a:noFill/>
          <a:ln/>
        </p:spPr>
        <p:txBody>
          <a:bodyPr wrap="square" lIns="0" tIns="0" rIns="0" bIns="0" rtlCol="0" anchor="t"/>
          <a:lstStyle/>
          <a:p>
            <a:pPr indent="0" marL="0">
              <a:buNone/>
            </a:pPr>
            <a:r>
              <a:rPr lang="en-US" sz="1100" b="1" dirty="0">
                <a:solidFill>
                  <a:srgbClr val="F59E0B"/>
                </a:solidFill>
                <a:latin typeface="Courier New" pitchFamily="34" charset="0"/>
                <a:ea typeface="Courier New" pitchFamily="34" charset="-122"/>
                <a:cs typeface="Courier New" pitchFamily="34" charset="-120"/>
              </a:rPr>
              <a:t>Ctrl+Shift+G</a:t>
            </a:r>
            <a:endParaRPr lang="en-US" sz="1100" dirty="0"/>
          </a:p>
        </p:txBody>
      </p:sp>
      <p:sp>
        <p:nvSpPr>
          <p:cNvPr id="26" name="Text 20"/>
          <p:cNvSpPr txBox="1"/>
          <p:nvPr/>
        </p:nvSpPr>
        <p:spPr>
          <a:xfrm>
            <a:off x="5623560" y="3520440"/>
            <a:ext cx="2926080" cy="5029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Stage (+) → message → Commit → Sync Changes to push to your fork</a:t>
            </a:r>
            <a:endParaRPr lang="en-US" sz="11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Why do we need data pipelines?</a:t>
            </a:r>
            <a:endParaRPr lang="en-US" sz="2800" dirty="0"/>
          </a:p>
        </p:txBody>
      </p:sp>
      <p:sp>
        <p:nvSpPr>
          <p:cNvPr id="3" name="Text 1"/>
          <p:cNvSpPr txBox="1"/>
          <p:nvPr/>
        </p:nvSpPr>
        <p:spPr>
          <a:xfrm>
            <a:off x="457200" y="1234440"/>
            <a:ext cx="4206240" cy="347472"/>
          </a:xfrm>
          <a:prstGeom prst="rect">
            <a:avLst/>
          </a:prstGeom>
          <a:noFill/>
          <a:ln/>
        </p:spPr>
        <p:txBody>
          <a:bodyPr wrap="square" lIns="0" tIns="0" rIns="0" bIns="0" rtlCol="0" anchor="t"/>
          <a:lstStyle/>
          <a:p>
            <a:pPr indent="0" marL="0">
              <a:buNone/>
            </a:pPr>
            <a:r>
              <a:rPr lang="en-US" sz="1700" b="1" dirty="0">
                <a:solidFill>
                  <a:srgbClr val="0F766E"/>
                </a:solidFill>
                <a:latin typeface="Calibri" pitchFamily="34" charset="0"/>
                <a:ea typeface="Calibri" pitchFamily="34" charset="-122"/>
                <a:cs typeface="Calibri" pitchFamily="34" charset="-120"/>
              </a:rPr>
              <a:t>Scattered data</a:t>
            </a:r>
            <a:endParaRPr lang="en-US" sz="1700" dirty="0"/>
          </a:p>
        </p:txBody>
      </p:sp>
      <p:sp>
        <p:nvSpPr>
          <p:cNvPr id="4" name="Text 2"/>
          <p:cNvSpPr txBox="1"/>
          <p:nvPr/>
        </p:nvSpPr>
        <p:spPr>
          <a:xfrm>
            <a:off x="457200" y="1581912"/>
            <a:ext cx="4206240" cy="54864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Sales apps, CRM, spreadsheets, network systems — none of them connected</a:t>
            </a:r>
            <a:endParaRPr lang="en-US" sz="1300" dirty="0"/>
          </a:p>
        </p:txBody>
      </p:sp>
      <p:sp>
        <p:nvSpPr>
          <p:cNvPr id="5" name="Text 3"/>
          <p:cNvSpPr txBox="1"/>
          <p:nvPr/>
        </p:nvSpPr>
        <p:spPr>
          <a:xfrm>
            <a:off x="457200" y="2286000"/>
            <a:ext cx="4206240" cy="347472"/>
          </a:xfrm>
          <a:prstGeom prst="rect">
            <a:avLst/>
          </a:prstGeom>
          <a:noFill/>
          <a:ln/>
        </p:spPr>
        <p:txBody>
          <a:bodyPr wrap="square" lIns="0" tIns="0" rIns="0" bIns="0" rtlCol="0" anchor="t"/>
          <a:lstStyle/>
          <a:p>
            <a:pPr indent="0" marL="0">
              <a:buNone/>
            </a:pPr>
            <a:r>
              <a:rPr lang="en-US" sz="1700" b="1" dirty="0">
                <a:solidFill>
                  <a:srgbClr val="0F766E"/>
                </a:solidFill>
                <a:latin typeface="Calibri" pitchFamily="34" charset="0"/>
                <a:ea typeface="Calibri" pitchFamily="34" charset="-122"/>
                <a:cs typeface="Calibri" pitchFamily="34" charset="-120"/>
              </a:rPr>
              <a:t>Manual processes</a:t>
            </a:r>
            <a:endParaRPr lang="en-US" sz="1700" dirty="0"/>
          </a:p>
        </p:txBody>
      </p:sp>
      <p:sp>
        <p:nvSpPr>
          <p:cNvPr id="6" name="Text 4"/>
          <p:cNvSpPr txBox="1"/>
          <p:nvPr/>
        </p:nvSpPr>
        <p:spPr>
          <a:xfrm>
            <a:off x="457200" y="2633472"/>
            <a:ext cx="4206240" cy="54864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Copy-paste and weekly recaps are slow and error-prone</a:t>
            </a:r>
            <a:endParaRPr lang="en-US" sz="1300" dirty="0"/>
          </a:p>
        </p:txBody>
      </p:sp>
      <p:sp>
        <p:nvSpPr>
          <p:cNvPr id="7" name="Text 5"/>
          <p:cNvSpPr txBox="1"/>
          <p:nvPr/>
        </p:nvSpPr>
        <p:spPr>
          <a:xfrm>
            <a:off x="457200" y="3337560"/>
            <a:ext cx="4206240" cy="347472"/>
          </a:xfrm>
          <a:prstGeom prst="rect">
            <a:avLst/>
          </a:prstGeom>
          <a:noFill/>
          <a:ln/>
        </p:spPr>
        <p:txBody>
          <a:bodyPr wrap="square" lIns="0" tIns="0" rIns="0" bIns="0" rtlCol="0" anchor="t"/>
          <a:lstStyle/>
          <a:p>
            <a:pPr indent="0" marL="0">
              <a:buNone/>
            </a:pPr>
            <a:r>
              <a:rPr lang="en-US" sz="1700" b="1" dirty="0">
                <a:solidFill>
                  <a:srgbClr val="0F766E"/>
                </a:solidFill>
                <a:latin typeface="Calibri" pitchFamily="34" charset="0"/>
                <a:ea typeface="Calibri" pitchFamily="34" charset="-122"/>
                <a:cs typeface="Calibri" pitchFamily="34" charset="-120"/>
              </a:rPr>
              <a:t>Inconsistent quality</a:t>
            </a:r>
            <a:endParaRPr lang="en-US" sz="1700" dirty="0"/>
          </a:p>
        </p:txBody>
      </p:sp>
      <p:sp>
        <p:nvSpPr>
          <p:cNvPr id="8" name="Text 6"/>
          <p:cNvSpPr txBox="1"/>
          <p:nvPr/>
        </p:nvSpPr>
        <p:spPr>
          <a:xfrm>
            <a:off x="457200" y="3685032"/>
            <a:ext cx="4206240" cy="548640"/>
          </a:xfrm>
          <a:prstGeom prst="rect">
            <a:avLst/>
          </a:prstGeom>
          <a:noFill/>
          <a:ln/>
        </p:spPr>
        <p:txBody>
          <a:bodyPr wrap="square" lIns="0" tIns="0" rIns="0" bIns="0" rtlCol="0" anchor="t"/>
          <a:lstStyle/>
          <a:p>
            <a:pPr indent="0" marL="0">
              <a:buNone/>
            </a:pPr>
            <a:r>
              <a:rPr lang="en-US" sz="1300" dirty="0">
                <a:solidFill>
                  <a:srgbClr val="0B2B2A"/>
                </a:solidFill>
                <a:latin typeface="Calibri" pitchFamily="34" charset="0"/>
                <a:ea typeface="Calibri" pitchFamily="34" charset="-122"/>
                <a:cs typeface="Calibri" pitchFamily="34" charset="-120"/>
              </a:rPr>
              <a:t>Mixed date formats, duplicates, inconsistent naming</a:t>
            </a:r>
            <a:endParaRPr lang="en-US" sz="1300" dirty="0"/>
          </a:p>
        </p:txBody>
      </p:sp>
      <p:sp>
        <p:nvSpPr>
          <p:cNvPr id="9" name="Shape 7"/>
          <p:cNvSpPr/>
          <p:nvPr/>
        </p:nvSpPr>
        <p:spPr>
          <a:xfrm>
            <a:off x="5120640" y="1188720"/>
            <a:ext cx="3566160" cy="3200400"/>
          </a:xfrm>
          <a:prstGeom prst="roundRect">
            <a:avLst>
              <a:gd name="adj" fmla="val 3429"/>
            </a:avLst>
          </a:prstGeom>
          <a:solidFill>
            <a:srgbClr val="082F2D"/>
          </a:solidFill>
          <a:ln w="12700">
            <a:solidFill>
              <a:srgbClr val="082F2D"/>
            </a:solidFill>
            <a:prstDash val="solid"/>
          </a:ln>
        </p:spPr>
      </p:sp>
      <p:sp>
        <p:nvSpPr>
          <p:cNvPr id="10" name="Text 8"/>
          <p:cNvSpPr txBox="1"/>
          <p:nvPr/>
        </p:nvSpPr>
        <p:spPr>
          <a:xfrm>
            <a:off x="5394960" y="1417320"/>
            <a:ext cx="3017520" cy="365760"/>
          </a:xfrm>
          <a:prstGeom prst="rect">
            <a:avLst/>
          </a:prstGeom>
          <a:noFill/>
          <a:ln/>
        </p:spPr>
        <p:txBody>
          <a:bodyPr wrap="square" lIns="0" tIns="0" rIns="0" bIns="0" rtlCol="0" anchor="t"/>
          <a:lstStyle/>
          <a:p>
            <a:pPr indent="0" marL="0">
              <a:buNone/>
            </a:pPr>
            <a:r>
              <a:rPr lang="en-US" sz="1600" dirty="0">
                <a:solidFill>
                  <a:srgbClr val="A7F3D0"/>
                </a:solidFill>
                <a:latin typeface="Calibri" pitchFamily="34" charset="0"/>
                <a:ea typeface="Calibri" pitchFamily="34" charset="-122"/>
                <a:cs typeface="Calibri" pitchFamily="34" charset="-120"/>
              </a:rPr>
              <a:t>A pipeline delivers</a:t>
            </a:r>
            <a:endParaRPr lang="en-US" sz="1600" dirty="0"/>
          </a:p>
        </p:txBody>
      </p:sp>
      <p:sp>
        <p:nvSpPr>
          <p:cNvPr id="11" name="Text 9"/>
          <p:cNvSpPr txBox="1"/>
          <p:nvPr/>
        </p:nvSpPr>
        <p:spPr>
          <a:xfrm>
            <a:off x="5394960" y="1828800"/>
            <a:ext cx="3017520" cy="12801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the right data, to the right place, at the right time</a:t>
            </a:r>
            <a:endParaRPr lang="en-US" sz="2200" dirty="0"/>
          </a:p>
        </p:txBody>
      </p:sp>
      <p:sp>
        <p:nvSpPr>
          <p:cNvPr id="12" name="Text 10"/>
          <p:cNvSpPr txBox="1"/>
          <p:nvPr/>
        </p:nvSpPr>
        <p:spPr>
          <a:xfrm>
            <a:off x="5394960" y="3611880"/>
            <a:ext cx="3017520" cy="457200"/>
          </a:xfrm>
          <a:prstGeom prst="rect">
            <a:avLst/>
          </a:prstGeom>
          <a:noFill/>
          <a:ln/>
        </p:spPr>
        <p:txBody>
          <a:bodyPr wrap="square" lIns="0" tIns="0" rIns="0" bIns="0" rtlCol="0" anchor="t"/>
          <a:lstStyle/>
          <a:p>
            <a:pPr indent="0" marL="0">
              <a:buNone/>
            </a:pPr>
            <a:r>
              <a:rPr lang="en-US" sz="1300" i="1" dirty="0">
                <a:solidFill>
                  <a:srgbClr val="F59E0B"/>
                </a:solidFill>
                <a:latin typeface="Calibri" pitchFamily="34" charset="0"/>
                <a:ea typeface="Calibri" pitchFamily="34" charset="-122"/>
                <a:cs typeface="Calibri" pitchFamily="34" charset="-120"/>
              </a:rPr>
              <a:t>automated · repeatable · trustworthy</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Anatomy of a data pipeline</a:t>
            </a:r>
            <a:endParaRPr lang="en-US" sz="2800" dirty="0"/>
          </a:p>
        </p:txBody>
      </p:sp>
      <p:sp>
        <p:nvSpPr>
          <p:cNvPr id="3" name="Shape 1"/>
          <p:cNvSpPr/>
          <p:nvPr/>
        </p:nvSpPr>
        <p:spPr>
          <a:xfrm>
            <a:off x="822960" y="1371600"/>
            <a:ext cx="822960" cy="822960"/>
          </a:xfrm>
          <a:prstGeom prst="ellipse">
            <a:avLst/>
          </a:prstGeom>
          <a:solidFill>
            <a:srgbClr val="F1F6F6"/>
          </a:solidFill>
          <a:ln w="12700">
            <a:solidFill>
              <a:srgbClr val="F1F6F6"/>
            </a:solidFill>
            <a:prstDash val="solid"/>
          </a:ln>
        </p:spPr>
      </p:sp>
      <p:pic>
        <p:nvPicPr>
          <p:cNvPr id="4" name="Image 0" descr="preencoded.png">    </p:cNvPr>
          <p:cNvPicPr>
            <a:picLocks noChangeAspect="1"/>
          </p:cNvPicPr>
          <p:nvPr/>
        </p:nvPicPr>
        <p:blipFill>
          <a:blip r:embed="rId1"/>
          <a:stretch>
            <a:fillRect/>
          </a:stretch>
        </p:blipFill>
        <p:spPr>
          <a:xfrm>
            <a:off x="1028700" y="1577340"/>
            <a:ext cx="411480" cy="411480"/>
          </a:xfrm>
          <a:prstGeom prst="rect">
            <a:avLst/>
          </a:prstGeom>
        </p:spPr>
      </p:pic>
      <p:sp>
        <p:nvSpPr>
          <p:cNvPr id="5" name="Text 2"/>
          <p:cNvSpPr txBox="1"/>
          <p:nvPr/>
        </p:nvSpPr>
        <p:spPr>
          <a:xfrm>
            <a:off x="411480" y="2331720"/>
            <a:ext cx="1645920" cy="365760"/>
          </a:xfrm>
          <a:prstGeom prst="rect">
            <a:avLst/>
          </a:prstGeom>
          <a:noFill/>
          <a:ln/>
        </p:spPr>
        <p:txBody>
          <a:bodyPr wrap="square" lIns="0" tIns="0" rIns="0" bIns="0" rtlCol="0" anchor="t"/>
          <a:lstStyle/>
          <a:p>
            <a:pPr algn="ctr" indent="0" marL="0">
              <a:buNone/>
            </a:pPr>
            <a:r>
              <a:rPr lang="en-US" sz="1600" b="1" dirty="0">
                <a:solidFill>
                  <a:srgbClr val="0B2B2A"/>
                </a:solidFill>
                <a:latin typeface="Arial" pitchFamily="34" charset="0"/>
                <a:ea typeface="Arial" pitchFamily="34" charset="-122"/>
                <a:cs typeface="Arial" pitchFamily="34" charset="-120"/>
              </a:rPr>
              <a:t>Source</a:t>
            </a:r>
            <a:endParaRPr lang="en-US" sz="1600" dirty="0"/>
          </a:p>
        </p:txBody>
      </p:sp>
      <p:sp>
        <p:nvSpPr>
          <p:cNvPr id="6" name="Text 3"/>
          <p:cNvSpPr txBox="1"/>
          <p:nvPr/>
        </p:nvSpPr>
        <p:spPr>
          <a:xfrm>
            <a:off x="411480" y="2697480"/>
            <a:ext cx="1645920" cy="457200"/>
          </a:xfrm>
          <a:prstGeom prst="rect">
            <a:avLst/>
          </a:prstGeom>
          <a:noFill/>
          <a:ln/>
        </p:spPr>
        <p:txBody>
          <a:bodyPr wrap="square" lIns="0" tIns="0" rIns="0" bIns="0" rtlCol="0" anchor="t"/>
          <a:lstStyle/>
          <a:p>
            <a:pPr algn="ctr" indent="0" marL="0">
              <a:buNone/>
            </a:pPr>
            <a:r>
              <a:rPr lang="en-US" sz="1200" dirty="0">
                <a:solidFill>
                  <a:srgbClr val="5B6B6A"/>
                </a:solidFill>
                <a:latin typeface="Calibri" pitchFamily="34" charset="0"/>
                <a:ea typeface="Calibri" pitchFamily="34" charset="-122"/>
                <a:cs typeface="Calibri" pitchFamily="34" charset="-120"/>
              </a:rPr>
              <a:t>API, database, files</a:t>
            </a:r>
            <a:endParaRPr lang="en-US" sz="1200" dirty="0"/>
          </a:p>
        </p:txBody>
      </p:sp>
      <p:sp>
        <p:nvSpPr>
          <p:cNvPr id="7" name="Shape 4"/>
          <p:cNvSpPr/>
          <p:nvPr/>
        </p:nvSpPr>
        <p:spPr>
          <a:xfrm>
            <a:off x="1737360" y="1783080"/>
            <a:ext cx="822960" cy="0"/>
          </a:xfrm>
          <a:prstGeom prst="line">
            <a:avLst/>
          </a:prstGeom>
          <a:noFill/>
          <a:ln w="31750">
            <a:solidFill>
              <a:srgbClr val="F59E0B"/>
            </a:solidFill>
            <a:prstDash val="solid"/>
            <a:tailEnd type="triangle"/>
          </a:ln>
        </p:spPr>
      </p:sp>
      <p:sp>
        <p:nvSpPr>
          <p:cNvPr id="8" name="Shape 5"/>
          <p:cNvSpPr/>
          <p:nvPr/>
        </p:nvSpPr>
        <p:spPr>
          <a:xfrm>
            <a:off x="2560320" y="1371600"/>
            <a:ext cx="822960" cy="822960"/>
          </a:xfrm>
          <a:prstGeom prst="ellipse">
            <a:avLst/>
          </a:prstGeom>
          <a:solidFill>
            <a:srgbClr val="0F766E"/>
          </a:solidFill>
          <a:ln w="12700">
            <a:solidFill>
              <a:srgbClr val="0F766E"/>
            </a:solidFill>
            <a:prstDash val="solid"/>
          </a:ln>
        </p:spPr>
      </p:sp>
      <p:pic>
        <p:nvPicPr>
          <p:cNvPr id="9" name="Image 1" descr="preencoded.png">    </p:cNvPr>
          <p:cNvPicPr>
            <a:picLocks noChangeAspect="1"/>
          </p:cNvPicPr>
          <p:nvPr/>
        </p:nvPicPr>
        <p:blipFill>
          <a:blip r:embed="rId2"/>
          <a:stretch>
            <a:fillRect/>
          </a:stretch>
        </p:blipFill>
        <p:spPr>
          <a:xfrm>
            <a:off x="2766060" y="1577340"/>
            <a:ext cx="411480" cy="411480"/>
          </a:xfrm>
          <a:prstGeom prst="rect">
            <a:avLst/>
          </a:prstGeom>
        </p:spPr>
      </p:pic>
      <p:sp>
        <p:nvSpPr>
          <p:cNvPr id="10" name="Text 6"/>
          <p:cNvSpPr txBox="1"/>
          <p:nvPr/>
        </p:nvSpPr>
        <p:spPr>
          <a:xfrm>
            <a:off x="2148840" y="2331720"/>
            <a:ext cx="1645920" cy="365760"/>
          </a:xfrm>
          <a:prstGeom prst="rect">
            <a:avLst/>
          </a:prstGeom>
          <a:noFill/>
          <a:ln/>
        </p:spPr>
        <p:txBody>
          <a:bodyPr wrap="square" lIns="0" tIns="0" rIns="0" bIns="0" rtlCol="0" anchor="t"/>
          <a:lstStyle/>
          <a:p>
            <a:pPr algn="ctr" indent="0" marL="0">
              <a:buNone/>
            </a:pPr>
            <a:r>
              <a:rPr lang="en-US" sz="1600" b="1" dirty="0">
                <a:solidFill>
                  <a:srgbClr val="0B2B2A"/>
                </a:solidFill>
                <a:latin typeface="Arial" pitchFamily="34" charset="0"/>
                <a:ea typeface="Arial" pitchFamily="34" charset="-122"/>
                <a:cs typeface="Arial" pitchFamily="34" charset="-120"/>
              </a:rPr>
              <a:t>Extract</a:t>
            </a:r>
            <a:endParaRPr lang="en-US" sz="1600" dirty="0"/>
          </a:p>
        </p:txBody>
      </p:sp>
      <p:sp>
        <p:nvSpPr>
          <p:cNvPr id="11" name="Text 7"/>
          <p:cNvSpPr txBox="1"/>
          <p:nvPr/>
        </p:nvSpPr>
        <p:spPr>
          <a:xfrm>
            <a:off x="2148840" y="2697480"/>
            <a:ext cx="1645920" cy="457200"/>
          </a:xfrm>
          <a:prstGeom prst="rect">
            <a:avLst/>
          </a:prstGeom>
          <a:noFill/>
          <a:ln/>
        </p:spPr>
        <p:txBody>
          <a:bodyPr wrap="square" lIns="0" tIns="0" rIns="0" bIns="0" rtlCol="0" anchor="t"/>
          <a:lstStyle/>
          <a:p>
            <a:pPr algn="ctr" indent="0" marL="0">
              <a:buNone/>
            </a:pPr>
            <a:r>
              <a:rPr lang="en-US" sz="1200" dirty="0">
                <a:solidFill>
                  <a:srgbClr val="5B6B6A"/>
                </a:solidFill>
                <a:latin typeface="Calibri" pitchFamily="34" charset="0"/>
                <a:ea typeface="Calibri" pitchFamily="34" charset="-122"/>
                <a:cs typeface="Calibri" pitchFamily="34" charset="-120"/>
              </a:rPr>
              <a:t>pull raw data</a:t>
            </a:r>
            <a:endParaRPr lang="en-US" sz="1200" dirty="0"/>
          </a:p>
        </p:txBody>
      </p:sp>
      <p:sp>
        <p:nvSpPr>
          <p:cNvPr id="12" name="Shape 8"/>
          <p:cNvSpPr/>
          <p:nvPr/>
        </p:nvSpPr>
        <p:spPr>
          <a:xfrm>
            <a:off x="3474720" y="1783080"/>
            <a:ext cx="822960" cy="0"/>
          </a:xfrm>
          <a:prstGeom prst="line">
            <a:avLst/>
          </a:prstGeom>
          <a:noFill/>
          <a:ln w="31750">
            <a:solidFill>
              <a:srgbClr val="F59E0B"/>
            </a:solidFill>
            <a:prstDash val="solid"/>
            <a:tailEnd type="triangle"/>
          </a:ln>
        </p:spPr>
      </p:sp>
      <p:sp>
        <p:nvSpPr>
          <p:cNvPr id="13" name="Shape 9"/>
          <p:cNvSpPr/>
          <p:nvPr/>
        </p:nvSpPr>
        <p:spPr>
          <a:xfrm>
            <a:off x="4297680" y="1371600"/>
            <a:ext cx="822960" cy="822960"/>
          </a:xfrm>
          <a:prstGeom prst="ellipse">
            <a:avLst/>
          </a:prstGeom>
          <a:solidFill>
            <a:srgbClr val="0F766E"/>
          </a:solidFill>
          <a:ln w="12700">
            <a:solidFill>
              <a:srgbClr val="0F766E"/>
            </a:solidFill>
            <a:prstDash val="solid"/>
          </a:ln>
        </p:spPr>
      </p:sp>
      <p:pic>
        <p:nvPicPr>
          <p:cNvPr id="14" name="Image 2" descr="preencoded.png">    </p:cNvPr>
          <p:cNvPicPr>
            <a:picLocks noChangeAspect="1"/>
          </p:cNvPicPr>
          <p:nvPr/>
        </p:nvPicPr>
        <p:blipFill>
          <a:blip r:embed="rId3"/>
          <a:stretch>
            <a:fillRect/>
          </a:stretch>
        </p:blipFill>
        <p:spPr>
          <a:xfrm>
            <a:off x="4503420" y="1577340"/>
            <a:ext cx="411480" cy="411480"/>
          </a:xfrm>
          <a:prstGeom prst="rect">
            <a:avLst/>
          </a:prstGeom>
        </p:spPr>
      </p:pic>
      <p:sp>
        <p:nvSpPr>
          <p:cNvPr id="15" name="Text 10"/>
          <p:cNvSpPr txBox="1"/>
          <p:nvPr/>
        </p:nvSpPr>
        <p:spPr>
          <a:xfrm>
            <a:off x="3886200" y="2331720"/>
            <a:ext cx="1645920" cy="365760"/>
          </a:xfrm>
          <a:prstGeom prst="rect">
            <a:avLst/>
          </a:prstGeom>
          <a:noFill/>
          <a:ln/>
        </p:spPr>
        <p:txBody>
          <a:bodyPr wrap="square" lIns="0" tIns="0" rIns="0" bIns="0" rtlCol="0" anchor="t"/>
          <a:lstStyle/>
          <a:p>
            <a:pPr algn="ctr" indent="0" marL="0">
              <a:buNone/>
            </a:pPr>
            <a:r>
              <a:rPr lang="en-US" sz="1600" b="1" dirty="0">
                <a:solidFill>
                  <a:srgbClr val="0B2B2A"/>
                </a:solidFill>
                <a:latin typeface="Arial" pitchFamily="34" charset="0"/>
                <a:ea typeface="Arial" pitchFamily="34" charset="-122"/>
                <a:cs typeface="Arial" pitchFamily="34" charset="-120"/>
              </a:rPr>
              <a:t>Transform</a:t>
            </a:r>
            <a:endParaRPr lang="en-US" sz="1600" dirty="0"/>
          </a:p>
        </p:txBody>
      </p:sp>
      <p:sp>
        <p:nvSpPr>
          <p:cNvPr id="16" name="Text 11"/>
          <p:cNvSpPr txBox="1"/>
          <p:nvPr/>
        </p:nvSpPr>
        <p:spPr>
          <a:xfrm>
            <a:off x="3886200" y="2697480"/>
            <a:ext cx="1645920" cy="457200"/>
          </a:xfrm>
          <a:prstGeom prst="rect">
            <a:avLst/>
          </a:prstGeom>
          <a:noFill/>
          <a:ln/>
        </p:spPr>
        <p:txBody>
          <a:bodyPr wrap="square" lIns="0" tIns="0" rIns="0" bIns="0" rtlCol="0" anchor="t"/>
          <a:lstStyle/>
          <a:p>
            <a:pPr algn="ctr" indent="0" marL="0">
              <a:buNone/>
            </a:pPr>
            <a:r>
              <a:rPr lang="en-US" sz="1200" dirty="0">
                <a:solidFill>
                  <a:srgbClr val="5B6B6A"/>
                </a:solidFill>
                <a:latin typeface="Calibri" pitchFamily="34" charset="0"/>
                <a:ea typeface="Calibri" pitchFamily="34" charset="-122"/>
                <a:cs typeface="Calibri" pitchFamily="34" charset="-120"/>
              </a:rPr>
              <a:t>clean &amp; reshape</a:t>
            </a:r>
            <a:endParaRPr lang="en-US" sz="1200" dirty="0"/>
          </a:p>
        </p:txBody>
      </p:sp>
      <p:sp>
        <p:nvSpPr>
          <p:cNvPr id="17" name="Shape 12"/>
          <p:cNvSpPr/>
          <p:nvPr/>
        </p:nvSpPr>
        <p:spPr>
          <a:xfrm>
            <a:off x="5212080" y="1783080"/>
            <a:ext cx="822960" cy="0"/>
          </a:xfrm>
          <a:prstGeom prst="line">
            <a:avLst/>
          </a:prstGeom>
          <a:noFill/>
          <a:ln w="31750">
            <a:solidFill>
              <a:srgbClr val="F59E0B"/>
            </a:solidFill>
            <a:prstDash val="solid"/>
            <a:tailEnd type="triangle"/>
          </a:ln>
        </p:spPr>
      </p:sp>
      <p:sp>
        <p:nvSpPr>
          <p:cNvPr id="18" name="Shape 13"/>
          <p:cNvSpPr/>
          <p:nvPr/>
        </p:nvSpPr>
        <p:spPr>
          <a:xfrm>
            <a:off x="6035040" y="1371600"/>
            <a:ext cx="822960" cy="822960"/>
          </a:xfrm>
          <a:prstGeom prst="ellipse">
            <a:avLst/>
          </a:prstGeom>
          <a:solidFill>
            <a:srgbClr val="0F766E"/>
          </a:solidFill>
          <a:ln w="12700">
            <a:solidFill>
              <a:srgbClr val="0F766E"/>
            </a:solidFill>
            <a:prstDash val="solid"/>
          </a:ln>
        </p:spPr>
      </p:sp>
      <p:pic>
        <p:nvPicPr>
          <p:cNvPr id="19" name="Image 3" descr="preencoded.png">    </p:cNvPr>
          <p:cNvPicPr>
            <a:picLocks noChangeAspect="1"/>
          </p:cNvPicPr>
          <p:nvPr/>
        </p:nvPicPr>
        <p:blipFill>
          <a:blip r:embed="rId4"/>
          <a:stretch>
            <a:fillRect/>
          </a:stretch>
        </p:blipFill>
        <p:spPr>
          <a:xfrm>
            <a:off x="6240780" y="1577340"/>
            <a:ext cx="411480" cy="411480"/>
          </a:xfrm>
          <a:prstGeom prst="rect">
            <a:avLst/>
          </a:prstGeom>
        </p:spPr>
      </p:pic>
      <p:sp>
        <p:nvSpPr>
          <p:cNvPr id="20" name="Text 14"/>
          <p:cNvSpPr txBox="1"/>
          <p:nvPr/>
        </p:nvSpPr>
        <p:spPr>
          <a:xfrm>
            <a:off x="5623560" y="2331720"/>
            <a:ext cx="1645920" cy="365760"/>
          </a:xfrm>
          <a:prstGeom prst="rect">
            <a:avLst/>
          </a:prstGeom>
          <a:noFill/>
          <a:ln/>
        </p:spPr>
        <p:txBody>
          <a:bodyPr wrap="square" lIns="0" tIns="0" rIns="0" bIns="0" rtlCol="0" anchor="t"/>
          <a:lstStyle/>
          <a:p>
            <a:pPr algn="ctr" indent="0" marL="0">
              <a:buNone/>
            </a:pPr>
            <a:r>
              <a:rPr lang="en-US" sz="1600" b="1" dirty="0">
                <a:solidFill>
                  <a:srgbClr val="0B2B2A"/>
                </a:solidFill>
                <a:latin typeface="Arial" pitchFamily="34" charset="0"/>
                <a:ea typeface="Arial" pitchFamily="34" charset="-122"/>
                <a:cs typeface="Arial" pitchFamily="34" charset="-120"/>
              </a:rPr>
              <a:t>Load</a:t>
            </a:r>
            <a:endParaRPr lang="en-US" sz="1600" dirty="0"/>
          </a:p>
        </p:txBody>
      </p:sp>
      <p:sp>
        <p:nvSpPr>
          <p:cNvPr id="21" name="Text 15"/>
          <p:cNvSpPr txBox="1"/>
          <p:nvPr/>
        </p:nvSpPr>
        <p:spPr>
          <a:xfrm>
            <a:off x="5623560" y="2697480"/>
            <a:ext cx="1645920" cy="457200"/>
          </a:xfrm>
          <a:prstGeom prst="rect">
            <a:avLst/>
          </a:prstGeom>
          <a:noFill/>
          <a:ln/>
        </p:spPr>
        <p:txBody>
          <a:bodyPr wrap="square" lIns="0" tIns="0" rIns="0" bIns="0" rtlCol="0" anchor="t"/>
          <a:lstStyle/>
          <a:p>
            <a:pPr algn="ctr" indent="0" marL="0">
              <a:buNone/>
            </a:pPr>
            <a:r>
              <a:rPr lang="en-US" sz="1200" dirty="0">
                <a:solidFill>
                  <a:srgbClr val="5B6B6A"/>
                </a:solidFill>
                <a:latin typeface="Calibri" pitchFamily="34" charset="0"/>
                <a:ea typeface="Calibri" pitchFamily="34" charset="-122"/>
                <a:cs typeface="Calibri" pitchFamily="34" charset="-120"/>
              </a:rPr>
              <a:t>store in a warehouse</a:t>
            </a:r>
            <a:endParaRPr lang="en-US" sz="1200" dirty="0"/>
          </a:p>
        </p:txBody>
      </p:sp>
      <p:sp>
        <p:nvSpPr>
          <p:cNvPr id="22" name="Shape 16"/>
          <p:cNvSpPr/>
          <p:nvPr/>
        </p:nvSpPr>
        <p:spPr>
          <a:xfrm>
            <a:off x="6949440" y="1783080"/>
            <a:ext cx="822960" cy="0"/>
          </a:xfrm>
          <a:prstGeom prst="line">
            <a:avLst/>
          </a:prstGeom>
          <a:noFill/>
          <a:ln w="31750">
            <a:solidFill>
              <a:srgbClr val="F59E0B"/>
            </a:solidFill>
            <a:prstDash val="solid"/>
            <a:tailEnd type="triangle"/>
          </a:ln>
        </p:spPr>
      </p:sp>
      <p:sp>
        <p:nvSpPr>
          <p:cNvPr id="23" name="Shape 17"/>
          <p:cNvSpPr/>
          <p:nvPr/>
        </p:nvSpPr>
        <p:spPr>
          <a:xfrm>
            <a:off x="7772400" y="1371600"/>
            <a:ext cx="822960" cy="822960"/>
          </a:xfrm>
          <a:prstGeom prst="ellipse">
            <a:avLst/>
          </a:prstGeom>
          <a:solidFill>
            <a:srgbClr val="F1F6F6"/>
          </a:solidFill>
          <a:ln w="12700">
            <a:solidFill>
              <a:srgbClr val="F1F6F6"/>
            </a:solidFill>
            <a:prstDash val="solid"/>
          </a:ln>
        </p:spPr>
      </p:sp>
      <p:pic>
        <p:nvPicPr>
          <p:cNvPr id="24" name="Image 4" descr="preencoded.png">    </p:cNvPr>
          <p:cNvPicPr>
            <a:picLocks noChangeAspect="1"/>
          </p:cNvPicPr>
          <p:nvPr/>
        </p:nvPicPr>
        <p:blipFill>
          <a:blip r:embed="rId5"/>
          <a:stretch>
            <a:fillRect/>
          </a:stretch>
        </p:blipFill>
        <p:spPr>
          <a:xfrm>
            <a:off x="7978140" y="1577340"/>
            <a:ext cx="411480" cy="411480"/>
          </a:xfrm>
          <a:prstGeom prst="rect">
            <a:avLst/>
          </a:prstGeom>
        </p:spPr>
      </p:pic>
      <p:sp>
        <p:nvSpPr>
          <p:cNvPr id="25" name="Text 18"/>
          <p:cNvSpPr txBox="1"/>
          <p:nvPr/>
        </p:nvSpPr>
        <p:spPr>
          <a:xfrm>
            <a:off x="7360920" y="2331720"/>
            <a:ext cx="1645920" cy="365760"/>
          </a:xfrm>
          <a:prstGeom prst="rect">
            <a:avLst/>
          </a:prstGeom>
          <a:noFill/>
          <a:ln/>
        </p:spPr>
        <p:txBody>
          <a:bodyPr wrap="square" lIns="0" tIns="0" rIns="0" bIns="0" rtlCol="0" anchor="t"/>
          <a:lstStyle/>
          <a:p>
            <a:pPr algn="ctr" indent="0" marL="0">
              <a:buNone/>
            </a:pPr>
            <a:r>
              <a:rPr lang="en-US" sz="1600" b="1" dirty="0">
                <a:solidFill>
                  <a:srgbClr val="0B2B2A"/>
                </a:solidFill>
                <a:latin typeface="Arial" pitchFamily="34" charset="0"/>
                <a:ea typeface="Arial" pitchFamily="34" charset="-122"/>
                <a:cs typeface="Arial" pitchFamily="34" charset="-120"/>
              </a:rPr>
              <a:t>Consume</a:t>
            </a:r>
            <a:endParaRPr lang="en-US" sz="1600" dirty="0"/>
          </a:p>
        </p:txBody>
      </p:sp>
      <p:sp>
        <p:nvSpPr>
          <p:cNvPr id="26" name="Text 19"/>
          <p:cNvSpPr txBox="1"/>
          <p:nvPr/>
        </p:nvSpPr>
        <p:spPr>
          <a:xfrm>
            <a:off x="7360920" y="2697480"/>
            <a:ext cx="1645920" cy="457200"/>
          </a:xfrm>
          <a:prstGeom prst="rect">
            <a:avLst/>
          </a:prstGeom>
          <a:noFill/>
          <a:ln/>
        </p:spPr>
        <p:txBody>
          <a:bodyPr wrap="square" lIns="0" tIns="0" rIns="0" bIns="0" rtlCol="0" anchor="t"/>
          <a:lstStyle/>
          <a:p>
            <a:pPr algn="ctr" indent="0" marL="0">
              <a:buNone/>
            </a:pPr>
            <a:r>
              <a:rPr lang="en-US" sz="1200" dirty="0">
                <a:solidFill>
                  <a:srgbClr val="5B6B6A"/>
                </a:solidFill>
                <a:latin typeface="Calibri" pitchFamily="34" charset="0"/>
                <a:ea typeface="Calibri" pitchFamily="34" charset="-122"/>
                <a:cs typeface="Calibri" pitchFamily="34" charset="-120"/>
              </a:rPr>
              <a:t>SQL, BI, ML</a:t>
            </a:r>
            <a:endParaRPr lang="en-US" sz="1200" dirty="0"/>
          </a:p>
        </p:txBody>
      </p:sp>
      <p:sp>
        <p:nvSpPr>
          <p:cNvPr id="27" name="Shape 20"/>
          <p:cNvSpPr/>
          <p:nvPr/>
        </p:nvSpPr>
        <p:spPr>
          <a:xfrm>
            <a:off x="457200" y="3520440"/>
            <a:ext cx="8229600" cy="868680"/>
          </a:xfrm>
          <a:prstGeom prst="roundRect">
            <a:avLst>
              <a:gd name="adj" fmla="val 12632"/>
            </a:avLst>
          </a:prstGeom>
          <a:solidFill>
            <a:srgbClr val="FFF7E6"/>
          </a:solidFill>
          <a:ln w="12700">
            <a:solidFill>
              <a:srgbClr val="FFF7E6"/>
            </a:solidFill>
            <a:prstDash val="solid"/>
          </a:ln>
        </p:spPr>
      </p:sp>
      <p:sp>
        <p:nvSpPr>
          <p:cNvPr id="28" name="Text 21"/>
          <p:cNvSpPr txBox="1"/>
          <p:nvPr/>
        </p:nvSpPr>
        <p:spPr>
          <a:xfrm>
            <a:off x="685800" y="3703320"/>
            <a:ext cx="7772400" cy="548640"/>
          </a:xfrm>
          <a:prstGeom prst="rect">
            <a:avLst/>
          </a:prstGeom>
          <a:noFill/>
          <a:ln/>
        </p:spPr>
        <p:txBody>
          <a:bodyPr wrap="square" lIns="0" tIns="0" rIns="0" bIns="0" rtlCol="0" anchor="t"/>
          <a:lstStyle/>
          <a:p>
            <a:pPr indent="0" marL="0">
              <a:buNone/>
            </a:pPr>
            <a:r>
              <a:rPr lang="en-US" sz="1300" b="1" dirty="0">
                <a:solidFill>
                  <a:srgbClr val="0B2B2A"/>
                </a:solidFill>
                <a:latin typeface="Calibri" pitchFamily="34" charset="0"/>
                <a:ea typeface="Calibri" pitchFamily="34" charset="-122"/>
                <a:cs typeface="Calibri" pitchFamily="34" charset="-120"/>
              </a:rPr>
              <a:t>Orchestration: </a:t>
            </a:r>
            <a:pPr indent="0" marL="0">
              <a:buNone/>
            </a:pPr>
            <a:r>
              <a:rPr lang="en-US" sz="1300" dirty="0">
                <a:solidFill>
                  <a:srgbClr val="0B2B2A"/>
                </a:solidFill>
                <a:latin typeface="Calibri" pitchFamily="34" charset="0"/>
                <a:ea typeface="Calibri" pitchFamily="34" charset="-122"/>
                <a:cs typeface="Calibri" pitchFamily="34" charset="-120"/>
              </a:rPr>
              <a:t>every stage is scheduled (cron/Airflow), logged, and monitored (alerts) so it runs without manual intervention.</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ETL vs ELT</a:t>
            </a:r>
            <a:endParaRPr lang="en-US" sz="2800" dirty="0"/>
          </a:p>
        </p:txBody>
      </p:sp>
      <p:sp>
        <p:nvSpPr>
          <p:cNvPr id="3" name="Shape 1"/>
          <p:cNvSpPr/>
          <p:nvPr/>
        </p:nvSpPr>
        <p:spPr>
          <a:xfrm>
            <a:off x="457200" y="1188720"/>
            <a:ext cx="402336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457200" y="1188720"/>
            <a:ext cx="4023360" cy="868680"/>
          </a:xfrm>
          <a:prstGeom prst="roundRect">
            <a:avLst>
              <a:gd name="adj" fmla="val 12632"/>
            </a:avLst>
          </a:prstGeom>
          <a:solidFill>
            <a:srgbClr val="0F766E"/>
          </a:solidFill>
          <a:ln w="12700">
            <a:solidFill>
              <a:srgbClr val="0F766E"/>
            </a:solidFill>
            <a:prstDash val="solid"/>
          </a:ln>
        </p:spPr>
      </p:sp>
      <p:sp>
        <p:nvSpPr>
          <p:cNvPr id="5" name="Text 3"/>
          <p:cNvSpPr txBox="1"/>
          <p:nvPr/>
        </p:nvSpPr>
        <p:spPr>
          <a:xfrm>
            <a:off x="685800" y="1261872"/>
            <a:ext cx="356616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ETL</a:t>
            </a:r>
            <a:endParaRPr lang="en-US" sz="2200" dirty="0"/>
          </a:p>
        </p:txBody>
      </p:sp>
      <p:sp>
        <p:nvSpPr>
          <p:cNvPr id="6" name="Text 4"/>
          <p:cNvSpPr txBox="1"/>
          <p:nvPr/>
        </p:nvSpPr>
        <p:spPr>
          <a:xfrm>
            <a:off x="685800" y="1664208"/>
            <a:ext cx="3566160" cy="3200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Extract → Transform → Load</a:t>
            </a:r>
            <a:endParaRPr lang="en-US" sz="1300" dirty="0"/>
          </a:p>
        </p:txBody>
      </p:sp>
      <p:sp>
        <p:nvSpPr>
          <p:cNvPr id="7" name="Text 5"/>
          <p:cNvSpPr txBox="1"/>
          <p:nvPr/>
        </p:nvSpPr>
        <p:spPr>
          <a:xfrm>
            <a:off x="685800" y="2240280"/>
            <a:ext cx="35661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2B2A"/>
                </a:solidFill>
              </a:rPr>
              <a:t>Transform before loading</a:t>
            </a:r>
            <a:endParaRPr lang="en-US" sz="1400" dirty="0"/>
          </a:p>
          <a:p>
            <a:pPr marL="342900" indent="-342900">
              <a:spcAft>
                <a:spcPts val="800"/>
              </a:spcAft>
              <a:buSzPct val="100000"/>
              <a:buChar char="•"/>
            </a:pPr>
            <a:r>
              <a:rPr lang="en-US" sz="1400" dirty="0">
                <a:solidFill>
                  <a:srgbClr val="0B2B2A"/>
                </a:solidFill>
              </a:rPr>
              <a:t>Data in the database is already clean</a:t>
            </a:r>
            <a:endParaRPr lang="en-US" sz="1400" dirty="0"/>
          </a:p>
          <a:p>
            <a:pPr marL="342900" indent="-342900">
              <a:spcAft>
                <a:spcPts val="800"/>
              </a:spcAft>
              <a:buSzPct val="100000"/>
              <a:buChar char="•"/>
            </a:pPr>
            <a:r>
              <a:rPr lang="en-US" sz="1400" dirty="0">
                <a:solidFill>
                  <a:srgbClr val="0B2B2A"/>
                </a:solidFill>
              </a:rPr>
              <a:t>Fits small-to-medium data</a:t>
            </a:r>
            <a:endParaRPr lang="en-US" sz="1400" dirty="0"/>
          </a:p>
          <a:p>
            <a:pPr marL="342900" indent="-342900">
              <a:spcAft>
                <a:spcPts val="800"/>
              </a:spcAft>
              <a:buSzPct val="100000"/>
              <a:buChar char="•"/>
            </a:pPr>
            <a:r>
              <a:rPr lang="en-US" sz="1400" dirty="0">
                <a:solidFill>
                  <a:srgbClr val="0B2B2A"/>
                </a:solidFill>
              </a:rPr>
              <a:t>Used in this workshop</a:t>
            </a:r>
            <a:endParaRPr lang="en-US" sz="1400" dirty="0"/>
          </a:p>
        </p:txBody>
      </p:sp>
      <p:sp>
        <p:nvSpPr>
          <p:cNvPr id="8" name="Shape 6"/>
          <p:cNvSpPr/>
          <p:nvPr/>
        </p:nvSpPr>
        <p:spPr>
          <a:xfrm>
            <a:off x="4663440" y="1188720"/>
            <a:ext cx="402336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663440" y="1188720"/>
            <a:ext cx="4023360" cy="868680"/>
          </a:xfrm>
          <a:prstGeom prst="roundRect">
            <a:avLst>
              <a:gd name="adj" fmla="val 12632"/>
            </a:avLst>
          </a:prstGeom>
          <a:solidFill>
            <a:srgbClr val="94A3B8"/>
          </a:solidFill>
          <a:ln w="12700">
            <a:solidFill>
              <a:srgbClr val="94A3B8"/>
            </a:solidFill>
            <a:prstDash val="solid"/>
          </a:ln>
        </p:spPr>
      </p:sp>
      <p:sp>
        <p:nvSpPr>
          <p:cNvPr id="10" name="Text 8"/>
          <p:cNvSpPr txBox="1"/>
          <p:nvPr/>
        </p:nvSpPr>
        <p:spPr>
          <a:xfrm>
            <a:off x="4892040" y="1261872"/>
            <a:ext cx="356616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ELT</a:t>
            </a:r>
            <a:endParaRPr lang="en-US" sz="2200" dirty="0"/>
          </a:p>
        </p:txBody>
      </p:sp>
      <p:sp>
        <p:nvSpPr>
          <p:cNvPr id="11" name="Text 9"/>
          <p:cNvSpPr txBox="1"/>
          <p:nvPr/>
        </p:nvSpPr>
        <p:spPr>
          <a:xfrm>
            <a:off x="4892040" y="1664208"/>
            <a:ext cx="3566160" cy="3200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Extract → Load → Transform</a:t>
            </a:r>
            <a:endParaRPr lang="en-US" sz="1300" dirty="0"/>
          </a:p>
        </p:txBody>
      </p:sp>
      <p:sp>
        <p:nvSpPr>
          <p:cNvPr id="12" name="Text 10"/>
          <p:cNvSpPr txBox="1"/>
          <p:nvPr/>
        </p:nvSpPr>
        <p:spPr>
          <a:xfrm>
            <a:off x="4892040" y="2240280"/>
            <a:ext cx="35661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2B2A"/>
                </a:solidFill>
              </a:rPr>
              <a:t>Load raw data first</a:t>
            </a:r>
            <a:endParaRPr lang="en-US" sz="1400" dirty="0"/>
          </a:p>
          <a:p>
            <a:pPr marL="342900" indent="-342900">
              <a:spcAft>
                <a:spcPts val="800"/>
              </a:spcAft>
              <a:buSzPct val="100000"/>
              <a:buChar char="•"/>
            </a:pPr>
            <a:r>
              <a:rPr lang="en-US" sz="1400" dirty="0">
                <a:solidFill>
                  <a:srgbClr val="0B2B2A"/>
                </a:solidFill>
              </a:rPr>
              <a:t>Transform with SQL inside the warehouse</a:t>
            </a:r>
            <a:endParaRPr lang="en-US" sz="1400" dirty="0"/>
          </a:p>
          <a:p>
            <a:pPr marL="342900" indent="-342900">
              <a:spcAft>
                <a:spcPts val="800"/>
              </a:spcAft>
              <a:buSzPct val="100000"/>
              <a:buChar char="•"/>
            </a:pPr>
            <a:r>
              <a:rPr lang="en-US" sz="1400" dirty="0">
                <a:solidFill>
                  <a:srgbClr val="0B2B2A"/>
                </a:solidFill>
              </a:rPr>
              <a:t>Fits large volumes (BigQuery, Snowflake)</a:t>
            </a:r>
            <a:endParaRPr lang="en-US" sz="1400" dirty="0"/>
          </a:p>
          <a:p>
            <a:pPr marL="342900" indent="-342900">
              <a:spcAft>
                <a:spcPts val="800"/>
              </a:spcAft>
              <a:buSzPct val="100000"/>
              <a:buChar char="•"/>
            </a:pPr>
            <a:r>
              <a:rPr lang="en-US" sz="1400" dirty="0">
                <a:solidFill>
                  <a:srgbClr val="0B2B2A"/>
                </a:solidFill>
              </a:rPr>
              <a:t>Tooling: dbt</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What we will build today</a:t>
            </a:r>
            <a:endParaRPr lang="en-US" sz="2800" dirty="0"/>
          </a:p>
        </p:txBody>
      </p:sp>
      <p:sp>
        <p:nvSpPr>
          <p:cNvPr id="3" name="Shape 1"/>
          <p:cNvSpPr/>
          <p:nvPr/>
        </p:nvSpPr>
        <p:spPr>
          <a:xfrm>
            <a:off x="457200" y="1417320"/>
            <a:ext cx="1874520" cy="1188720"/>
          </a:xfrm>
          <a:prstGeom prst="roundRect">
            <a:avLst>
              <a:gd name="adj" fmla="val 9231"/>
            </a:avLst>
          </a:prstGeom>
          <a:solidFill>
            <a:srgbClr val="F1F6F6"/>
          </a:solidFill>
          <a:ln w="12700">
            <a:solidFill>
              <a:srgbClr val="F1F6F6"/>
            </a:solidFill>
            <a:prstDash val="solid"/>
          </a:ln>
        </p:spPr>
      </p:sp>
      <p:sp>
        <p:nvSpPr>
          <p:cNvPr id="4" name="Text 2"/>
          <p:cNvSpPr txBox="1"/>
          <p:nvPr/>
        </p:nvSpPr>
        <p:spPr>
          <a:xfrm>
            <a:off x="566928" y="1600200"/>
            <a:ext cx="1645920" cy="411480"/>
          </a:xfrm>
          <a:prstGeom prst="rect">
            <a:avLst/>
          </a:prstGeom>
          <a:noFill/>
          <a:ln/>
        </p:spPr>
        <p:txBody>
          <a:bodyPr wrap="square" lIns="0" tIns="0" rIns="0" bIns="0" rtlCol="0" anchor="t"/>
          <a:lstStyle/>
          <a:p>
            <a:pPr algn="ctr" indent="0" marL="0">
              <a:buNone/>
            </a:pPr>
            <a:r>
              <a:rPr lang="en-US" sz="1500" b="1" dirty="0">
                <a:solidFill>
                  <a:srgbClr val="0B2B2A"/>
                </a:solidFill>
                <a:latin typeface="Calibri" pitchFamily="34" charset="0"/>
                <a:ea typeface="Calibri" pitchFamily="34" charset="-122"/>
                <a:cs typeface="Calibri" pitchFamily="34" charset="-120"/>
              </a:rPr>
              <a:t>GitHub repo</a:t>
            </a:r>
            <a:endParaRPr lang="en-US" sz="1500" dirty="0"/>
          </a:p>
        </p:txBody>
      </p:sp>
      <p:sp>
        <p:nvSpPr>
          <p:cNvPr id="5" name="Text 3"/>
          <p:cNvSpPr txBox="1"/>
          <p:nvPr/>
        </p:nvSpPr>
        <p:spPr>
          <a:xfrm>
            <a:off x="566928" y="2057400"/>
            <a:ext cx="1645920" cy="411480"/>
          </a:xfrm>
          <a:prstGeom prst="rect">
            <a:avLst/>
          </a:prstGeom>
          <a:noFill/>
          <a:ln/>
        </p:spPr>
        <p:txBody>
          <a:bodyPr wrap="square" lIns="0" tIns="0" rIns="0" bIns="0" rtlCol="0" anchor="t"/>
          <a:lstStyle/>
          <a:p>
            <a:pPr algn="ctr" indent="0" marL="0">
              <a:buNone/>
            </a:pPr>
            <a:r>
              <a:rPr lang="en-US" sz="1100" dirty="0">
                <a:solidFill>
                  <a:srgbClr val="0B2B2A"/>
                </a:solidFill>
                <a:latin typeface="Calibri" pitchFamily="34" charset="0"/>
                <a:ea typeface="Calibri" pitchFamily="34" charset="-122"/>
                <a:cs typeface="Calibri" pitchFamily="34" charset="-120"/>
              </a:rPr>
              <a:t>static JSON API · 304 rows</a:t>
            </a:r>
            <a:endParaRPr lang="en-US" sz="1100" dirty="0"/>
          </a:p>
        </p:txBody>
      </p:sp>
      <p:sp>
        <p:nvSpPr>
          <p:cNvPr id="6" name="Shape 4"/>
          <p:cNvSpPr/>
          <p:nvPr/>
        </p:nvSpPr>
        <p:spPr>
          <a:xfrm>
            <a:off x="2350008" y="2011680"/>
            <a:ext cx="237744" cy="0"/>
          </a:xfrm>
          <a:prstGeom prst="line">
            <a:avLst/>
          </a:prstGeom>
          <a:noFill/>
          <a:ln w="38100">
            <a:solidFill>
              <a:srgbClr val="F59E0B"/>
            </a:solidFill>
            <a:prstDash val="solid"/>
            <a:tailEnd type="triangle"/>
          </a:ln>
        </p:spPr>
      </p:sp>
      <p:sp>
        <p:nvSpPr>
          <p:cNvPr id="7" name="Shape 5"/>
          <p:cNvSpPr/>
          <p:nvPr/>
        </p:nvSpPr>
        <p:spPr>
          <a:xfrm>
            <a:off x="2606040" y="1417320"/>
            <a:ext cx="1874520" cy="1188720"/>
          </a:xfrm>
          <a:prstGeom prst="roundRect">
            <a:avLst>
              <a:gd name="adj" fmla="val 9231"/>
            </a:avLst>
          </a:prstGeom>
          <a:solidFill>
            <a:srgbClr val="0F766E"/>
          </a:solidFill>
          <a:ln w="12700">
            <a:solidFill>
              <a:srgbClr val="0F766E"/>
            </a:solidFill>
            <a:prstDash val="solid"/>
          </a:ln>
        </p:spPr>
      </p:sp>
      <p:sp>
        <p:nvSpPr>
          <p:cNvPr id="8" name="Text 6"/>
          <p:cNvSpPr txBox="1"/>
          <p:nvPr/>
        </p:nvSpPr>
        <p:spPr>
          <a:xfrm>
            <a:off x="2715768" y="1600200"/>
            <a:ext cx="1645920"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VS Code + Jupyter</a:t>
            </a:r>
            <a:endParaRPr lang="en-US" sz="1500" dirty="0"/>
          </a:p>
        </p:txBody>
      </p:sp>
      <p:sp>
        <p:nvSpPr>
          <p:cNvPr id="9" name="Text 7"/>
          <p:cNvSpPr txBox="1"/>
          <p:nvPr/>
        </p:nvSpPr>
        <p:spPr>
          <a:xfrm>
            <a:off x="2715768" y="2057400"/>
            <a:ext cx="164592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Python in .venv</a:t>
            </a:r>
            <a:endParaRPr lang="en-US" sz="1100" dirty="0"/>
          </a:p>
        </p:txBody>
      </p:sp>
      <p:sp>
        <p:nvSpPr>
          <p:cNvPr id="10" name="Shape 8"/>
          <p:cNvSpPr/>
          <p:nvPr/>
        </p:nvSpPr>
        <p:spPr>
          <a:xfrm>
            <a:off x="4498848" y="2011680"/>
            <a:ext cx="237744" cy="0"/>
          </a:xfrm>
          <a:prstGeom prst="line">
            <a:avLst/>
          </a:prstGeom>
          <a:noFill/>
          <a:ln w="38100">
            <a:solidFill>
              <a:srgbClr val="F59E0B"/>
            </a:solidFill>
            <a:prstDash val="solid"/>
            <a:tailEnd type="triangle"/>
          </a:ln>
        </p:spPr>
      </p:sp>
      <p:sp>
        <p:nvSpPr>
          <p:cNvPr id="11" name="Shape 9"/>
          <p:cNvSpPr/>
          <p:nvPr/>
        </p:nvSpPr>
        <p:spPr>
          <a:xfrm>
            <a:off x="4754880" y="1417320"/>
            <a:ext cx="1874520" cy="1188720"/>
          </a:xfrm>
          <a:prstGeom prst="roundRect">
            <a:avLst>
              <a:gd name="adj" fmla="val 9231"/>
            </a:avLst>
          </a:prstGeom>
          <a:solidFill>
            <a:srgbClr val="0F766E"/>
          </a:solidFill>
          <a:ln w="12700">
            <a:solidFill>
              <a:srgbClr val="0F766E"/>
            </a:solidFill>
            <a:prstDash val="solid"/>
          </a:ln>
        </p:spPr>
      </p:sp>
      <p:sp>
        <p:nvSpPr>
          <p:cNvPr id="12" name="Text 10"/>
          <p:cNvSpPr txBox="1"/>
          <p:nvPr/>
        </p:nvSpPr>
        <p:spPr>
          <a:xfrm>
            <a:off x="4864608" y="1600200"/>
            <a:ext cx="1645920"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PostgreSQL</a:t>
            </a:r>
            <a:endParaRPr lang="en-US" sz="1500" dirty="0"/>
          </a:p>
        </p:txBody>
      </p:sp>
      <p:sp>
        <p:nvSpPr>
          <p:cNvPr id="13" name="Text 11"/>
          <p:cNvSpPr txBox="1"/>
          <p:nvPr/>
        </p:nvSpPr>
        <p:spPr>
          <a:xfrm>
            <a:off x="4864608" y="2057400"/>
            <a:ext cx="164592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personal schema per user</a:t>
            </a:r>
            <a:endParaRPr lang="en-US" sz="1100" dirty="0"/>
          </a:p>
        </p:txBody>
      </p:sp>
      <p:sp>
        <p:nvSpPr>
          <p:cNvPr id="14" name="Shape 12"/>
          <p:cNvSpPr/>
          <p:nvPr/>
        </p:nvSpPr>
        <p:spPr>
          <a:xfrm>
            <a:off x="6647688" y="2011680"/>
            <a:ext cx="237744" cy="0"/>
          </a:xfrm>
          <a:prstGeom prst="line">
            <a:avLst/>
          </a:prstGeom>
          <a:noFill/>
          <a:ln w="38100">
            <a:solidFill>
              <a:srgbClr val="F59E0B"/>
            </a:solidFill>
            <a:prstDash val="solid"/>
            <a:tailEnd type="triangle"/>
          </a:ln>
        </p:spPr>
      </p:sp>
      <p:sp>
        <p:nvSpPr>
          <p:cNvPr id="15" name="Shape 13"/>
          <p:cNvSpPr/>
          <p:nvPr/>
        </p:nvSpPr>
        <p:spPr>
          <a:xfrm>
            <a:off x="6903720" y="1417320"/>
            <a:ext cx="1874520" cy="1188720"/>
          </a:xfrm>
          <a:prstGeom prst="roundRect">
            <a:avLst>
              <a:gd name="adj" fmla="val 9231"/>
            </a:avLst>
          </a:prstGeom>
          <a:solidFill>
            <a:srgbClr val="F1F6F6"/>
          </a:solidFill>
          <a:ln w="12700">
            <a:solidFill>
              <a:srgbClr val="F1F6F6"/>
            </a:solidFill>
            <a:prstDash val="solid"/>
          </a:ln>
        </p:spPr>
      </p:sp>
      <p:sp>
        <p:nvSpPr>
          <p:cNvPr id="16" name="Text 14"/>
          <p:cNvSpPr txBox="1"/>
          <p:nvPr/>
        </p:nvSpPr>
        <p:spPr>
          <a:xfrm>
            <a:off x="7013448" y="1600200"/>
            <a:ext cx="1645920" cy="411480"/>
          </a:xfrm>
          <a:prstGeom prst="rect">
            <a:avLst/>
          </a:prstGeom>
          <a:noFill/>
          <a:ln/>
        </p:spPr>
        <p:txBody>
          <a:bodyPr wrap="square" lIns="0" tIns="0" rIns="0" bIns="0" rtlCol="0" anchor="t"/>
          <a:lstStyle/>
          <a:p>
            <a:pPr algn="ctr" indent="0" marL="0">
              <a:buNone/>
            </a:pPr>
            <a:r>
              <a:rPr lang="en-US" sz="1500" b="1" dirty="0">
                <a:solidFill>
                  <a:srgbClr val="0B2B2A"/>
                </a:solidFill>
                <a:latin typeface="Calibri" pitchFamily="34" charset="0"/>
                <a:ea typeface="Calibri" pitchFamily="34" charset="-122"/>
                <a:cs typeface="Calibri" pitchFamily="34" charset="-120"/>
              </a:rPr>
              <a:t>Dashboard</a:t>
            </a:r>
            <a:endParaRPr lang="en-US" sz="1500" dirty="0"/>
          </a:p>
        </p:txBody>
      </p:sp>
      <p:sp>
        <p:nvSpPr>
          <p:cNvPr id="17" name="Text 15"/>
          <p:cNvSpPr txBox="1"/>
          <p:nvPr/>
        </p:nvSpPr>
        <p:spPr>
          <a:xfrm>
            <a:off x="7013448" y="2057400"/>
            <a:ext cx="1645920" cy="411480"/>
          </a:xfrm>
          <a:prstGeom prst="rect">
            <a:avLst/>
          </a:prstGeom>
          <a:noFill/>
          <a:ln/>
        </p:spPr>
        <p:txBody>
          <a:bodyPr wrap="square" lIns="0" tIns="0" rIns="0" bIns="0" rtlCol="0" anchor="t"/>
          <a:lstStyle/>
          <a:p>
            <a:pPr algn="ctr" indent="0" marL="0">
              <a:buNone/>
            </a:pPr>
            <a:r>
              <a:rPr lang="en-US" sz="1100" dirty="0">
                <a:solidFill>
                  <a:srgbClr val="0B2B2A"/>
                </a:solidFill>
                <a:latin typeface="Calibri" pitchFamily="34" charset="0"/>
                <a:ea typeface="Calibri" pitchFamily="34" charset="-122"/>
                <a:cs typeface="Calibri" pitchFamily="34" charset="-120"/>
              </a:rPr>
              <a:t>Plotly · Streamlit · Looker</a:t>
            </a:r>
            <a:endParaRPr lang="en-US" sz="1100" dirty="0"/>
          </a:p>
        </p:txBody>
      </p:sp>
      <p:sp>
        <p:nvSpPr>
          <p:cNvPr id="18" name="Text 16"/>
          <p:cNvSpPr txBox="1"/>
          <p:nvPr/>
        </p:nvSpPr>
        <p:spPr>
          <a:xfrm>
            <a:off x="1783080" y="2697480"/>
            <a:ext cx="1280160" cy="274320"/>
          </a:xfrm>
          <a:prstGeom prst="rect">
            <a:avLst/>
          </a:prstGeom>
          <a:noFill/>
          <a:ln/>
        </p:spPr>
        <p:txBody>
          <a:bodyPr wrap="square" lIns="0" tIns="0" rIns="0" bIns="0" rtlCol="0" anchor="t"/>
          <a:lstStyle/>
          <a:p>
            <a:pPr algn="ctr" indent="0" marL="0">
              <a:buNone/>
            </a:pPr>
            <a:r>
              <a:rPr lang="en-US" sz="1100" i="1" dirty="0">
                <a:solidFill>
                  <a:srgbClr val="F59E0B"/>
                </a:solidFill>
                <a:latin typeface="Calibri" pitchFamily="34" charset="0"/>
                <a:ea typeface="Calibri" pitchFamily="34" charset="-122"/>
                <a:cs typeface="Calibri" pitchFamily="34" charset="-120"/>
              </a:rPr>
              <a:t>Extract</a:t>
            </a:r>
            <a:endParaRPr lang="en-US" sz="1100" dirty="0"/>
          </a:p>
        </p:txBody>
      </p:sp>
      <p:sp>
        <p:nvSpPr>
          <p:cNvPr id="19" name="Text 17"/>
          <p:cNvSpPr txBox="1"/>
          <p:nvPr/>
        </p:nvSpPr>
        <p:spPr>
          <a:xfrm>
            <a:off x="3931920" y="2697480"/>
            <a:ext cx="1280160" cy="274320"/>
          </a:xfrm>
          <a:prstGeom prst="rect">
            <a:avLst/>
          </a:prstGeom>
          <a:noFill/>
          <a:ln/>
        </p:spPr>
        <p:txBody>
          <a:bodyPr wrap="square" lIns="0" tIns="0" rIns="0" bIns="0" rtlCol="0" anchor="t"/>
          <a:lstStyle/>
          <a:p>
            <a:pPr algn="ctr" indent="0" marL="0">
              <a:buNone/>
            </a:pPr>
            <a:r>
              <a:rPr lang="en-US" sz="1100" i="1" dirty="0">
                <a:solidFill>
                  <a:srgbClr val="F59E0B"/>
                </a:solidFill>
                <a:latin typeface="Calibri" pitchFamily="34" charset="0"/>
                <a:ea typeface="Calibri" pitchFamily="34" charset="-122"/>
                <a:cs typeface="Calibri" pitchFamily="34" charset="-120"/>
              </a:rPr>
              <a:t>Transform &amp; Load</a:t>
            </a:r>
            <a:endParaRPr lang="en-US" sz="1100" dirty="0"/>
          </a:p>
        </p:txBody>
      </p:sp>
      <p:sp>
        <p:nvSpPr>
          <p:cNvPr id="20" name="Text 18"/>
          <p:cNvSpPr txBox="1"/>
          <p:nvPr/>
        </p:nvSpPr>
        <p:spPr>
          <a:xfrm>
            <a:off x="6080760" y="2697480"/>
            <a:ext cx="1280160" cy="274320"/>
          </a:xfrm>
          <a:prstGeom prst="rect">
            <a:avLst/>
          </a:prstGeom>
          <a:noFill/>
          <a:ln/>
        </p:spPr>
        <p:txBody>
          <a:bodyPr wrap="square" lIns="0" tIns="0" rIns="0" bIns="0" rtlCol="0" anchor="t"/>
          <a:lstStyle/>
          <a:p>
            <a:pPr algn="ctr" indent="0" marL="0">
              <a:buNone/>
            </a:pPr>
            <a:r>
              <a:rPr lang="en-US" sz="1100" i="1" dirty="0">
                <a:solidFill>
                  <a:srgbClr val="F59E0B"/>
                </a:solidFill>
                <a:latin typeface="Calibri" pitchFamily="34" charset="0"/>
                <a:ea typeface="Calibri" pitchFamily="34" charset="-122"/>
                <a:cs typeface="Calibri" pitchFamily="34" charset="-120"/>
              </a:rPr>
              <a:t>SQL</a:t>
            </a:r>
            <a:endParaRPr lang="en-US" sz="1100" dirty="0"/>
          </a:p>
        </p:txBody>
      </p:sp>
      <p:sp>
        <p:nvSpPr>
          <p:cNvPr id="21" name="Shape 19"/>
          <p:cNvSpPr/>
          <p:nvPr/>
        </p:nvSpPr>
        <p:spPr>
          <a:xfrm>
            <a:off x="457200" y="3291840"/>
            <a:ext cx="8229600" cy="1143000"/>
          </a:xfrm>
          <a:prstGeom prst="roundRect">
            <a:avLst>
              <a:gd name="adj" fmla="val 9600"/>
            </a:avLst>
          </a:prstGeom>
          <a:solidFill>
            <a:srgbClr val="F1F6F6"/>
          </a:solidFill>
          <a:ln w="12700">
            <a:solidFill>
              <a:srgbClr val="F1F6F6"/>
            </a:solidFill>
            <a:prstDash val="solid"/>
          </a:ln>
        </p:spPr>
      </p:sp>
      <p:sp>
        <p:nvSpPr>
          <p:cNvPr id="22" name="Text 20"/>
          <p:cNvSpPr txBox="1"/>
          <p:nvPr/>
        </p:nvSpPr>
        <p:spPr>
          <a:xfrm>
            <a:off x="685800" y="3474720"/>
            <a:ext cx="7772400" cy="822960"/>
          </a:xfrm>
          <a:prstGeom prst="rect">
            <a:avLst/>
          </a:prstGeom>
          <a:noFill/>
          <a:ln/>
        </p:spPr>
        <p:txBody>
          <a:bodyPr wrap="square" lIns="0" tIns="0" rIns="0" bIns="0" rtlCol="0" anchor="t"/>
          <a:lstStyle/>
          <a:p>
            <a:pPr indent="0" marL="0">
              <a:buNone/>
            </a:pPr>
            <a:r>
              <a:rPr lang="en-US" sz="1300" b="1" dirty="0">
                <a:solidFill>
                  <a:srgbClr val="0F766E"/>
                </a:solidFill>
                <a:latin typeface="Calibri" pitchFamily="34" charset="0"/>
                <a:ea typeface="Calibri" pitchFamily="34" charset="-122"/>
                <a:cs typeface="Calibri" pitchFamily="34" charset="-120"/>
              </a:rPr>
              <a:t>Each participant: </a:t>
            </a:r>
            <a:pPr indent="0" marL="0">
              <a:buNone/>
            </a:pPr>
            <a:r>
              <a:rPr lang="en-US" sz="1300" dirty="0">
                <a:solidFill>
                  <a:srgbClr val="0B2B2A"/>
                </a:solidFill>
                <a:latin typeface="Calibri" pitchFamily="34" charset="0"/>
                <a:ea typeface="Calibri" pitchFamily="34" charset="-122"/>
                <a:cs typeface="Calibri" pitchFamily="34" charset="-120"/>
              </a:rPr>
              <a:t>account pesertaXX with a personal schema → no one overwrites anyone else's tables.  </a:t>
            </a:r>
            <a:pPr indent="0" marL="0">
              <a:buNone/>
            </a:pPr>
            <a:r>
              <a:rPr lang="en-US" sz="1300" b="1" dirty="0">
                <a:solidFill>
                  <a:srgbClr val="0F766E"/>
                </a:solidFill>
                <a:latin typeface="Calibri" pitchFamily="34" charset="0"/>
                <a:ea typeface="Calibri" pitchFamily="34" charset="-122"/>
                <a:cs typeface="Calibri" pitchFamily="34" charset="-120"/>
              </a:rPr>
              <a:t>Reference data: </a:t>
            </a:r>
            <a:pPr indent="0" marL="0">
              <a:buNone/>
            </a:pPr>
            <a:r>
              <a:rPr lang="en-US" sz="1300" dirty="0">
                <a:solidFill>
                  <a:srgbClr val="0B2B2A"/>
                </a:solidFill>
                <a:latin typeface="Calibri" pitchFamily="34" charset="0"/>
                <a:ea typeface="Calibri" pitchFamily="34" charset="-122"/>
                <a:cs typeface="Calibri" pitchFamily="34" charset="-120"/>
              </a:rPr>
              <a:t>ref.sales_clean is available if your Load step is not done yet.</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p>
            <a:pPr algn="l" indent="0" marL="0">
              <a:buNone/>
            </a:pPr>
            <a:r>
              <a:rPr lang="en-US" sz="4000" b="1" dirty="0">
                <a:solidFill>
                  <a:schemeClr val="bg1"/>
                </a:solidFill>
                <a:latin typeface="Arial" pitchFamily="34" charset="0"/>
                <a:ea typeface="Arial" pitchFamily="34" charset="-122"/>
                <a:cs typeface="Arial" pitchFamily="34" charset="-120"/>
              </a:rPr>
              <a:t>1 · Extract</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p>
            <a:pPr algn="l" indent="0" marL="0">
              <a:buNone/>
            </a:pPr>
            <a:r>
              <a:rPr lang="en-US" sz="1800" dirty="0">
                <a:solidFill>
                  <a:srgbClr val="CCFBF1"/>
                </a:solidFill>
              </a:rPr>
              <a:t>Pulling data from an API</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CFBF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API &amp; pagination</a:t>
            </a:r>
            <a:endParaRPr lang="en-US" sz="2800" dirty="0"/>
          </a:p>
        </p:txBody>
      </p:sp>
      <p:sp>
        <p:nvSpPr>
          <p:cNvPr id="3" name="Text 1"/>
          <p:cNvSpPr txBox="1"/>
          <p:nvPr/>
        </p:nvSpPr>
        <p:spPr>
          <a:xfrm>
            <a:off x="457200" y="1097280"/>
            <a:ext cx="3840480" cy="731520"/>
          </a:xfrm>
          <a:prstGeom prst="rect">
            <a:avLst/>
          </a:prstGeom>
          <a:noFill/>
          <a:ln/>
        </p:spPr>
        <p:txBody>
          <a:bodyPr wrap="square" lIns="0" tIns="0" rIns="0" bIns="0" rtlCol="0" anchor="t"/>
          <a:lstStyle/>
          <a:p>
            <a:pPr indent="0" marL="0">
              <a:buNone/>
            </a:pPr>
            <a:r>
              <a:rPr lang="en-US" sz="1400" dirty="0">
                <a:solidFill>
                  <a:srgbClr val="0B2B2A"/>
                </a:solidFill>
                <a:latin typeface="Calibri" pitchFamily="34" charset="0"/>
                <a:ea typeface="Calibri" pitchFamily="34" charset="-122"/>
                <a:cs typeface="Calibri" pitchFamily="34" charset="-120"/>
              </a:rPr>
              <a:t>API responses are split into pages. We keep requesting until has_next is false.</a:t>
            </a:r>
            <a:endParaRPr lang="en-US" sz="1400" dirty="0"/>
          </a:p>
        </p:txBody>
      </p:sp>
      <p:sp>
        <p:nvSpPr>
          <p:cNvPr id="4" name="Shape 2"/>
          <p:cNvSpPr/>
          <p:nvPr/>
        </p:nvSpPr>
        <p:spPr>
          <a:xfrm>
            <a:off x="457200" y="1874520"/>
            <a:ext cx="3840480" cy="2514600"/>
          </a:xfrm>
          <a:prstGeom prst="roundRect">
            <a:avLst>
              <a:gd name="adj" fmla="val 2909"/>
            </a:avLst>
          </a:prstGeom>
          <a:solidFill>
            <a:srgbClr val="0B2B2A"/>
          </a:solidFill>
          <a:ln w="12700">
            <a:solidFill>
              <a:srgbClr val="0B2B2A"/>
            </a:solidFill>
            <a:prstDash val="solid"/>
          </a:ln>
        </p:spPr>
      </p:sp>
      <p:sp>
        <p:nvSpPr>
          <p:cNvPr id="5" name="Text 3"/>
          <p:cNvSpPr txBox="1"/>
          <p:nvPr/>
        </p:nvSpPr>
        <p:spPr>
          <a:xfrm>
            <a:off x="594360" y="1965960"/>
            <a:ext cx="3566160" cy="2331720"/>
          </a:xfrm>
          <a:prstGeom prst="rect">
            <a:avLst/>
          </a:prstGeom>
          <a:noFill/>
          <a:ln/>
        </p:spPr>
        <p:txBody>
          <a:bodyPr wrap="square" lIns="0" tIns="0" rIns="0" bIns="0" rtlCol="0" anchor="t"/>
          <a:lstStyle/>
          <a:p>
            <a:pPr indent="0" marL="0">
              <a:buNone/>
            </a:pPr>
            <a:r>
              <a:rPr lang="en-US" sz="1100" dirty="0">
                <a:solidFill>
                  <a:srgbClr val="E6FFFA"/>
                </a:solidFill>
                <a:latin typeface="Courier New" pitchFamily="34" charset="0"/>
                <a:ea typeface="Courier New" pitchFamily="34" charset="-122"/>
                <a:cs typeface="Courier New" pitchFamily="34" charset="-120"/>
              </a:rPr>
              <a:t>GET raw.githubusercontent.com/&lt;user&gt;/</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data-science-workshop/main/</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api/static/sales_page_1.json</a:t>
            </a:r>
            <a:endParaRPr lang="en-US" sz="1100" dirty="0"/>
          </a:p>
          <a:p>
            <a:pPr indent="0" marL="0">
              <a:buNone/>
            </a:pP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"page": 1, "total": 304,</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"has_next": true,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"data": [ {...}, {...} ] }</a:t>
            </a:r>
            <a:endParaRPr lang="en-US" sz="1100" dirty="0"/>
          </a:p>
        </p:txBody>
      </p:sp>
      <p:sp>
        <p:nvSpPr>
          <p:cNvPr id="6" name="Shape 4"/>
          <p:cNvSpPr/>
          <p:nvPr/>
        </p:nvSpPr>
        <p:spPr>
          <a:xfrm>
            <a:off x="4572000" y="1097280"/>
            <a:ext cx="4114800" cy="3291840"/>
          </a:xfrm>
          <a:prstGeom prst="roundRect">
            <a:avLst>
              <a:gd name="adj" fmla="val 2222"/>
            </a:avLst>
          </a:prstGeom>
          <a:solidFill>
            <a:srgbClr val="0B2B2A"/>
          </a:solidFill>
          <a:ln w="12700">
            <a:solidFill>
              <a:srgbClr val="0B2B2A"/>
            </a:solidFill>
            <a:prstDash val="solid"/>
          </a:ln>
        </p:spPr>
      </p:sp>
      <p:sp>
        <p:nvSpPr>
          <p:cNvPr id="7" name="Text 5"/>
          <p:cNvSpPr txBox="1"/>
          <p:nvPr/>
        </p:nvSpPr>
        <p:spPr>
          <a:xfrm>
            <a:off x="4709160" y="1188720"/>
            <a:ext cx="3840480" cy="3108960"/>
          </a:xfrm>
          <a:prstGeom prst="rect">
            <a:avLst/>
          </a:prstGeom>
          <a:noFill/>
          <a:ln/>
        </p:spPr>
        <p:txBody>
          <a:bodyPr wrap="square" lIns="0" tIns="0" rIns="0" bIns="0" rtlCol="0" anchor="t"/>
          <a:lstStyle/>
          <a:p>
            <a:pPr indent="0" marL="0">
              <a:buNone/>
            </a:pPr>
            <a:r>
              <a:rPr lang="en-US" sz="1200" dirty="0">
                <a:solidFill>
                  <a:srgbClr val="E6FFFA"/>
                </a:solidFill>
                <a:latin typeface="Courier New" pitchFamily="34" charset="0"/>
                <a:ea typeface="Courier New" pitchFamily="34" charset="-122"/>
                <a:cs typeface="Courier New" pitchFamily="34" charset="-120"/>
              </a:rPr>
              <a:t>rows, page = [], 1</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while True:</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url = API_URL.format(page=page)</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resp = requests.get(url, timeout=30)</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resp.raise_for_status()</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payload = resp.json()</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rows.extend(payload["data"])</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if not payload["has_next"]:</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break</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page += 1</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df_raw = pd.DataFrame(rows)</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p>
            <a:pPr algn="l" indent="0" marL="0">
              <a:buNone/>
            </a:pPr>
            <a:r>
              <a:rPr lang="en-US" sz="4000" b="1" dirty="0">
                <a:solidFill>
                  <a:schemeClr val="bg1"/>
                </a:solidFill>
                <a:latin typeface="Arial" pitchFamily="34" charset="0"/>
                <a:ea typeface="Arial" pitchFamily="34" charset="-122"/>
                <a:cs typeface="Arial" pitchFamily="34" charset="-120"/>
              </a:rPr>
              <a:t>2 · Transform</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p>
            <a:pPr algn="l" indent="0" marL="0">
              <a:buNone/>
            </a:pPr>
            <a:r>
              <a:rPr lang="en-US" sz="1800" dirty="0">
                <a:solidFill>
                  <a:srgbClr val="CCFBF1"/>
                </a:solidFill>
              </a:rPr>
              <a:t>Raw data is rarely ready to use</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CFBF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5 data quality issues in our dataset</a:t>
            </a:r>
            <a:endParaRPr lang="en-US" sz="2800" dirty="0"/>
          </a:p>
        </p:txBody>
      </p:sp>
      <p:sp>
        <p:nvSpPr>
          <p:cNvPr id="3" name="Shape 1"/>
          <p:cNvSpPr/>
          <p:nvPr/>
        </p:nvSpPr>
        <p:spPr>
          <a:xfrm>
            <a:off x="457200" y="1188720"/>
            <a:ext cx="1554480" cy="2743200"/>
          </a:xfrm>
          <a:prstGeom prst="roundRect">
            <a:avLst>
              <a:gd name="adj" fmla="val 705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298448"/>
            <a:ext cx="457200" cy="457200"/>
          </a:xfrm>
          <a:prstGeom prst="rect">
            <a:avLst/>
          </a:prstGeom>
          <a:noFill/>
          <a:ln/>
        </p:spPr>
        <p:txBody>
          <a:bodyPr wrap="square" lIns="0" tIns="0" rIns="0" bIns="0" rtlCol="0" anchor="t"/>
          <a:lstStyle/>
          <a:p>
            <a:pPr indent="0" marL="0">
              <a:buNone/>
            </a:pPr>
            <a:r>
              <a:rPr lang="en-US" sz="2400" b="1" dirty="0">
                <a:solidFill>
                  <a:srgbClr val="F59E0B"/>
                </a:solidFill>
                <a:latin typeface="Arial" pitchFamily="34" charset="0"/>
                <a:ea typeface="Arial" pitchFamily="34" charset="-122"/>
                <a:cs typeface="Arial" pitchFamily="34" charset="-120"/>
              </a:rPr>
              <a:t>1</a:t>
            </a:r>
            <a:endParaRPr lang="en-US" sz="2400" dirty="0"/>
          </a:p>
        </p:txBody>
      </p:sp>
      <p:sp>
        <p:nvSpPr>
          <p:cNvPr id="5" name="Text 3"/>
          <p:cNvSpPr txBox="1"/>
          <p:nvPr/>
        </p:nvSpPr>
        <p:spPr>
          <a:xfrm>
            <a:off x="594360" y="1783080"/>
            <a:ext cx="1325880" cy="5486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Duplicates</a:t>
            </a:r>
            <a:endParaRPr lang="en-US" sz="1400" dirty="0"/>
          </a:p>
        </p:txBody>
      </p:sp>
      <p:sp>
        <p:nvSpPr>
          <p:cNvPr id="6" name="Text 4"/>
          <p:cNvSpPr txBox="1"/>
          <p:nvPr/>
        </p:nvSpPr>
        <p:spPr>
          <a:xfrm>
            <a:off x="594360" y="2377440"/>
            <a:ext cx="1325880" cy="73152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4 identical rows</a:t>
            </a:r>
            <a:endParaRPr lang="en-US" sz="1100" dirty="0"/>
          </a:p>
        </p:txBody>
      </p:sp>
      <p:sp>
        <p:nvSpPr>
          <p:cNvPr id="7" name="Shape 5"/>
          <p:cNvSpPr/>
          <p:nvPr/>
        </p:nvSpPr>
        <p:spPr>
          <a:xfrm>
            <a:off x="566928" y="3291840"/>
            <a:ext cx="1335024" cy="457200"/>
          </a:xfrm>
          <a:prstGeom prst="roundRect">
            <a:avLst>
              <a:gd name="adj" fmla="val 12000"/>
            </a:avLst>
          </a:prstGeom>
          <a:solidFill>
            <a:srgbClr val="F1F6F6"/>
          </a:solidFill>
          <a:ln w="12700">
            <a:solidFill>
              <a:srgbClr val="F1F6F6"/>
            </a:solidFill>
            <a:prstDash val="solid"/>
          </a:ln>
        </p:spPr>
      </p:sp>
      <p:sp>
        <p:nvSpPr>
          <p:cNvPr id="8" name="Text 6"/>
          <p:cNvSpPr txBox="1"/>
          <p:nvPr/>
        </p:nvSpPr>
        <p:spPr>
          <a:xfrm>
            <a:off x="566928" y="3291840"/>
            <a:ext cx="1335024" cy="457200"/>
          </a:xfrm>
          <a:prstGeom prst="rect">
            <a:avLst/>
          </a:prstGeom>
          <a:noFill/>
          <a:ln/>
        </p:spPr>
        <p:txBody>
          <a:bodyPr wrap="square" lIns="0" tIns="0" rIns="0" bIns="0" rtlCol="0" anchor="ctr"/>
          <a:lstStyle/>
          <a:p>
            <a:pPr algn="ctr" indent="0" marL="0">
              <a:buNone/>
            </a:pPr>
            <a:r>
              <a:rPr lang="en-US" sz="950" dirty="0">
                <a:solidFill>
                  <a:srgbClr val="0F766E"/>
                </a:solidFill>
                <a:latin typeface="Courier New" pitchFamily="34" charset="0"/>
                <a:ea typeface="Courier New" pitchFamily="34" charset="-122"/>
                <a:cs typeface="Courier New" pitchFamily="34" charset="-120"/>
              </a:rPr>
              <a:t>drop_duplicates()</a:t>
            </a:r>
            <a:endParaRPr lang="en-US" sz="950" dirty="0"/>
          </a:p>
        </p:txBody>
      </p:sp>
      <p:sp>
        <p:nvSpPr>
          <p:cNvPr id="9" name="Shape 7"/>
          <p:cNvSpPr/>
          <p:nvPr/>
        </p:nvSpPr>
        <p:spPr>
          <a:xfrm>
            <a:off x="2139696" y="1188720"/>
            <a:ext cx="1554480" cy="2743200"/>
          </a:xfrm>
          <a:prstGeom prst="roundRect">
            <a:avLst>
              <a:gd name="adj" fmla="val 705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2276856" y="1298448"/>
            <a:ext cx="457200" cy="457200"/>
          </a:xfrm>
          <a:prstGeom prst="rect">
            <a:avLst/>
          </a:prstGeom>
          <a:noFill/>
          <a:ln/>
        </p:spPr>
        <p:txBody>
          <a:bodyPr wrap="square" lIns="0" tIns="0" rIns="0" bIns="0" rtlCol="0" anchor="t"/>
          <a:lstStyle/>
          <a:p>
            <a:pPr indent="0" marL="0">
              <a:buNone/>
            </a:pPr>
            <a:r>
              <a:rPr lang="en-US" sz="2400" b="1" dirty="0">
                <a:solidFill>
                  <a:srgbClr val="F59E0B"/>
                </a:solidFill>
                <a:latin typeface="Arial" pitchFamily="34" charset="0"/>
                <a:ea typeface="Arial" pitchFamily="34" charset="-122"/>
                <a:cs typeface="Arial" pitchFamily="34" charset="-120"/>
              </a:rPr>
              <a:t>2</a:t>
            </a:r>
            <a:endParaRPr lang="en-US" sz="2400" dirty="0"/>
          </a:p>
        </p:txBody>
      </p:sp>
      <p:sp>
        <p:nvSpPr>
          <p:cNvPr id="11" name="Text 9"/>
          <p:cNvSpPr txBox="1"/>
          <p:nvPr/>
        </p:nvSpPr>
        <p:spPr>
          <a:xfrm>
            <a:off x="2276856" y="1783080"/>
            <a:ext cx="1325880" cy="5486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Mixed date formats</a:t>
            </a:r>
            <a:endParaRPr lang="en-US" sz="1400" dirty="0"/>
          </a:p>
        </p:txBody>
      </p:sp>
      <p:sp>
        <p:nvSpPr>
          <p:cNvPr id="12" name="Text 10"/>
          <p:cNvSpPr txBox="1"/>
          <p:nvPr/>
        </p:nvSpPr>
        <p:spPr>
          <a:xfrm>
            <a:off x="2276856" y="2377440"/>
            <a:ext cx="1325880" cy="73152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2026-03-02 vs 02/03/2026</a:t>
            </a:r>
            <a:endParaRPr lang="en-US" sz="1100" dirty="0"/>
          </a:p>
        </p:txBody>
      </p:sp>
      <p:sp>
        <p:nvSpPr>
          <p:cNvPr id="13" name="Shape 11"/>
          <p:cNvSpPr/>
          <p:nvPr/>
        </p:nvSpPr>
        <p:spPr>
          <a:xfrm>
            <a:off x="2249424" y="3291840"/>
            <a:ext cx="1335024" cy="457200"/>
          </a:xfrm>
          <a:prstGeom prst="roundRect">
            <a:avLst>
              <a:gd name="adj" fmla="val 12000"/>
            </a:avLst>
          </a:prstGeom>
          <a:solidFill>
            <a:srgbClr val="F1F6F6"/>
          </a:solidFill>
          <a:ln w="12700">
            <a:solidFill>
              <a:srgbClr val="F1F6F6"/>
            </a:solidFill>
            <a:prstDash val="solid"/>
          </a:ln>
        </p:spPr>
      </p:sp>
      <p:sp>
        <p:nvSpPr>
          <p:cNvPr id="14" name="Text 12"/>
          <p:cNvSpPr txBox="1"/>
          <p:nvPr/>
        </p:nvSpPr>
        <p:spPr>
          <a:xfrm>
            <a:off x="2249424" y="3291840"/>
            <a:ext cx="1335024" cy="457200"/>
          </a:xfrm>
          <a:prstGeom prst="rect">
            <a:avLst/>
          </a:prstGeom>
          <a:noFill/>
          <a:ln/>
        </p:spPr>
        <p:txBody>
          <a:bodyPr wrap="square" lIns="0" tIns="0" rIns="0" bIns="0" rtlCol="0" anchor="ctr"/>
          <a:lstStyle/>
          <a:p>
            <a:pPr algn="ctr" indent="0" marL="0">
              <a:buNone/>
            </a:pPr>
            <a:r>
              <a:rPr lang="en-US" sz="950" dirty="0">
                <a:solidFill>
                  <a:srgbClr val="0F766E"/>
                </a:solidFill>
                <a:latin typeface="Courier New" pitchFamily="34" charset="0"/>
                <a:ea typeface="Courier New" pitchFamily="34" charset="-122"/>
                <a:cs typeface="Courier New" pitchFamily="34" charset="-120"/>
              </a:rPr>
              <a:t>parse 2 formats</a:t>
            </a:r>
            <a:endParaRPr lang="en-US" sz="950" dirty="0"/>
          </a:p>
        </p:txBody>
      </p:sp>
      <p:sp>
        <p:nvSpPr>
          <p:cNvPr id="15" name="Shape 13"/>
          <p:cNvSpPr/>
          <p:nvPr/>
        </p:nvSpPr>
        <p:spPr>
          <a:xfrm>
            <a:off x="3822192" y="1188720"/>
            <a:ext cx="1554480" cy="2743200"/>
          </a:xfrm>
          <a:prstGeom prst="roundRect">
            <a:avLst>
              <a:gd name="adj" fmla="val 705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3959352" y="1298448"/>
            <a:ext cx="457200" cy="457200"/>
          </a:xfrm>
          <a:prstGeom prst="rect">
            <a:avLst/>
          </a:prstGeom>
          <a:noFill/>
          <a:ln/>
        </p:spPr>
        <p:txBody>
          <a:bodyPr wrap="square" lIns="0" tIns="0" rIns="0" bIns="0" rtlCol="0" anchor="t"/>
          <a:lstStyle/>
          <a:p>
            <a:pPr indent="0" marL="0">
              <a:buNone/>
            </a:pPr>
            <a:r>
              <a:rPr lang="en-US" sz="2400" b="1" dirty="0">
                <a:solidFill>
                  <a:srgbClr val="F59E0B"/>
                </a:solidFill>
                <a:latin typeface="Arial" pitchFamily="34" charset="0"/>
                <a:ea typeface="Arial" pitchFamily="34" charset="-122"/>
                <a:cs typeface="Arial" pitchFamily="34" charset="-120"/>
              </a:rPr>
              <a:t>3</a:t>
            </a:r>
            <a:endParaRPr lang="en-US" sz="2400" dirty="0"/>
          </a:p>
        </p:txBody>
      </p:sp>
      <p:sp>
        <p:nvSpPr>
          <p:cNvPr id="17" name="Text 15"/>
          <p:cNvSpPr txBox="1"/>
          <p:nvPr/>
        </p:nvSpPr>
        <p:spPr>
          <a:xfrm>
            <a:off x="3959352" y="1783080"/>
            <a:ext cx="1325880" cy="5486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Inconsistent cities</a:t>
            </a:r>
            <a:endParaRPr lang="en-US" sz="1400" dirty="0"/>
          </a:p>
        </p:txBody>
      </p:sp>
      <p:sp>
        <p:nvSpPr>
          <p:cNvPr id="18" name="Text 16"/>
          <p:cNvSpPr txBox="1"/>
          <p:nvPr/>
        </p:nvSpPr>
        <p:spPr>
          <a:xfrm>
            <a:off x="3959352" y="2377440"/>
            <a:ext cx="1325880" cy="73152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malang · MALANG · ' Malang'</a:t>
            </a:r>
            <a:endParaRPr lang="en-US" sz="1100" dirty="0"/>
          </a:p>
        </p:txBody>
      </p:sp>
      <p:sp>
        <p:nvSpPr>
          <p:cNvPr id="19" name="Shape 17"/>
          <p:cNvSpPr/>
          <p:nvPr/>
        </p:nvSpPr>
        <p:spPr>
          <a:xfrm>
            <a:off x="3931920" y="3291840"/>
            <a:ext cx="1335024" cy="457200"/>
          </a:xfrm>
          <a:prstGeom prst="roundRect">
            <a:avLst>
              <a:gd name="adj" fmla="val 12000"/>
            </a:avLst>
          </a:prstGeom>
          <a:solidFill>
            <a:srgbClr val="F1F6F6"/>
          </a:solidFill>
          <a:ln w="12700">
            <a:solidFill>
              <a:srgbClr val="F1F6F6"/>
            </a:solidFill>
            <a:prstDash val="solid"/>
          </a:ln>
        </p:spPr>
      </p:sp>
      <p:sp>
        <p:nvSpPr>
          <p:cNvPr id="20" name="Text 18"/>
          <p:cNvSpPr txBox="1"/>
          <p:nvPr/>
        </p:nvSpPr>
        <p:spPr>
          <a:xfrm>
            <a:off x="3931920" y="3291840"/>
            <a:ext cx="1335024" cy="457200"/>
          </a:xfrm>
          <a:prstGeom prst="rect">
            <a:avLst/>
          </a:prstGeom>
          <a:noFill/>
          <a:ln/>
        </p:spPr>
        <p:txBody>
          <a:bodyPr wrap="square" lIns="0" tIns="0" rIns="0" bIns="0" rtlCol="0" anchor="ctr"/>
          <a:lstStyle/>
          <a:p>
            <a:pPr algn="ctr" indent="0" marL="0">
              <a:buNone/>
            </a:pPr>
            <a:r>
              <a:rPr lang="en-US" sz="950" dirty="0">
                <a:solidFill>
                  <a:srgbClr val="0F766E"/>
                </a:solidFill>
                <a:latin typeface="Courier New" pitchFamily="34" charset="0"/>
                <a:ea typeface="Courier New" pitchFamily="34" charset="-122"/>
                <a:cs typeface="Courier New" pitchFamily="34" charset="-120"/>
              </a:rPr>
              <a:t>strip().title()</a:t>
            </a:r>
            <a:endParaRPr lang="en-US" sz="950" dirty="0"/>
          </a:p>
        </p:txBody>
      </p:sp>
      <p:sp>
        <p:nvSpPr>
          <p:cNvPr id="21" name="Shape 19"/>
          <p:cNvSpPr/>
          <p:nvPr/>
        </p:nvSpPr>
        <p:spPr>
          <a:xfrm>
            <a:off x="5504688" y="1188720"/>
            <a:ext cx="1554480" cy="2743200"/>
          </a:xfrm>
          <a:prstGeom prst="roundRect">
            <a:avLst>
              <a:gd name="adj" fmla="val 705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5641848" y="1298448"/>
            <a:ext cx="457200" cy="457200"/>
          </a:xfrm>
          <a:prstGeom prst="rect">
            <a:avLst/>
          </a:prstGeom>
          <a:noFill/>
          <a:ln/>
        </p:spPr>
        <p:txBody>
          <a:bodyPr wrap="square" lIns="0" tIns="0" rIns="0" bIns="0" rtlCol="0" anchor="t"/>
          <a:lstStyle/>
          <a:p>
            <a:pPr indent="0" marL="0">
              <a:buNone/>
            </a:pPr>
            <a:r>
              <a:rPr lang="en-US" sz="2400" b="1" dirty="0">
                <a:solidFill>
                  <a:srgbClr val="F59E0B"/>
                </a:solidFill>
                <a:latin typeface="Arial" pitchFamily="34" charset="0"/>
                <a:ea typeface="Arial" pitchFamily="34" charset="-122"/>
                <a:cs typeface="Arial" pitchFamily="34" charset="-120"/>
              </a:rPr>
              <a:t>4</a:t>
            </a:r>
            <a:endParaRPr lang="en-US" sz="2400" dirty="0"/>
          </a:p>
        </p:txBody>
      </p:sp>
      <p:sp>
        <p:nvSpPr>
          <p:cNvPr id="23" name="Text 21"/>
          <p:cNvSpPr txBox="1"/>
          <p:nvPr/>
        </p:nvSpPr>
        <p:spPr>
          <a:xfrm>
            <a:off x="5641848" y="1783080"/>
            <a:ext cx="1325880" cy="5486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Empty quantity</a:t>
            </a:r>
            <a:endParaRPr lang="en-US" sz="1400" dirty="0"/>
          </a:p>
        </p:txBody>
      </p:sp>
      <p:sp>
        <p:nvSpPr>
          <p:cNvPr id="24" name="Text 22"/>
          <p:cNvSpPr txBox="1"/>
          <p:nvPr/>
        </p:nvSpPr>
        <p:spPr>
          <a:xfrm>
            <a:off x="5641848" y="2377440"/>
            <a:ext cx="1325880" cy="73152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value ""</a:t>
            </a:r>
            <a:endParaRPr lang="en-US" sz="1100" dirty="0"/>
          </a:p>
        </p:txBody>
      </p:sp>
      <p:sp>
        <p:nvSpPr>
          <p:cNvPr id="25" name="Shape 23"/>
          <p:cNvSpPr/>
          <p:nvPr/>
        </p:nvSpPr>
        <p:spPr>
          <a:xfrm>
            <a:off x="5614416" y="3291840"/>
            <a:ext cx="1335024" cy="457200"/>
          </a:xfrm>
          <a:prstGeom prst="roundRect">
            <a:avLst>
              <a:gd name="adj" fmla="val 12000"/>
            </a:avLst>
          </a:prstGeom>
          <a:solidFill>
            <a:srgbClr val="F1F6F6"/>
          </a:solidFill>
          <a:ln w="12700">
            <a:solidFill>
              <a:srgbClr val="F1F6F6"/>
            </a:solidFill>
            <a:prstDash val="solid"/>
          </a:ln>
        </p:spPr>
      </p:sp>
      <p:sp>
        <p:nvSpPr>
          <p:cNvPr id="26" name="Text 24"/>
          <p:cNvSpPr txBox="1"/>
          <p:nvPr/>
        </p:nvSpPr>
        <p:spPr>
          <a:xfrm>
            <a:off x="5614416" y="3291840"/>
            <a:ext cx="1335024" cy="457200"/>
          </a:xfrm>
          <a:prstGeom prst="rect">
            <a:avLst/>
          </a:prstGeom>
          <a:noFill/>
          <a:ln/>
        </p:spPr>
        <p:txBody>
          <a:bodyPr wrap="square" lIns="0" tIns="0" rIns="0" bIns="0" rtlCol="0" anchor="ctr"/>
          <a:lstStyle/>
          <a:p>
            <a:pPr algn="ctr" indent="0" marL="0">
              <a:buNone/>
            </a:pPr>
            <a:r>
              <a:rPr lang="en-US" sz="950" dirty="0">
                <a:solidFill>
                  <a:srgbClr val="0F766E"/>
                </a:solidFill>
                <a:latin typeface="Courier New" pitchFamily="34" charset="0"/>
                <a:ea typeface="Courier New" pitchFamily="34" charset="-122"/>
                <a:cs typeface="Courier New" pitchFamily="34" charset="-120"/>
              </a:rPr>
              <a:t>fill with 1</a:t>
            </a:r>
            <a:endParaRPr lang="en-US" sz="950" dirty="0"/>
          </a:p>
        </p:txBody>
      </p:sp>
      <p:sp>
        <p:nvSpPr>
          <p:cNvPr id="27" name="Shape 25"/>
          <p:cNvSpPr/>
          <p:nvPr/>
        </p:nvSpPr>
        <p:spPr>
          <a:xfrm>
            <a:off x="7187184" y="1188720"/>
            <a:ext cx="1554480" cy="2743200"/>
          </a:xfrm>
          <a:prstGeom prst="roundRect">
            <a:avLst>
              <a:gd name="adj" fmla="val 705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8" name="Text 26"/>
          <p:cNvSpPr txBox="1"/>
          <p:nvPr/>
        </p:nvSpPr>
        <p:spPr>
          <a:xfrm>
            <a:off x="7324344" y="1298448"/>
            <a:ext cx="457200" cy="457200"/>
          </a:xfrm>
          <a:prstGeom prst="rect">
            <a:avLst/>
          </a:prstGeom>
          <a:noFill/>
          <a:ln/>
        </p:spPr>
        <p:txBody>
          <a:bodyPr wrap="square" lIns="0" tIns="0" rIns="0" bIns="0" rtlCol="0" anchor="t"/>
          <a:lstStyle/>
          <a:p>
            <a:pPr indent="0" marL="0">
              <a:buNone/>
            </a:pPr>
            <a:r>
              <a:rPr lang="en-US" sz="2400" b="1" dirty="0">
                <a:solidFill>
                  <a:srgbClr val="F59E0B"/>
                </a:solidFill>
                <a:latin typeface="Arial" pitchFamily="34" charset="0"/>
                <a:ea typeface="Arial" pitchFamily="34" charset="-122"/>
                <a:cs typeface="Arial" pitchFamily="34" charset="-120"/>
              </a:rPr>
              <a:t>5</a:t>
            </a:r>
            <a:endParaRPr lang="en-US" sz="2400" dirty="0"/>
          </a:p>
        </p:txBody>
      </p:sp>
      <p:sp>
        <p:nvSpPr>
          <p:cNvPr id="29" name="Text 27"/>
          <p:cNvSpPr txBox="1"/>
          <p:nvPr/>
        </p:nvSpPr>
        <p:spPr>
          <a:xfrm>
            <a:off x="7324344" y="1783080"/>
            <a:ext cx="1325880" cy="548640"/>
          </a:xfrm>
          <a:prstGeom prst="rect">
            <a:avLst/>
          </a:prstGeom>
          <a:noFill/>
          <a:ln/>
        </p:spPr>
        <p:txBody>
          <a:bodyPr wrap="square" lIns="0" tIns="0" rIns="0" bIns="0" rtlCol="0" anchor="t"/>
          <a:lstStyle/>
          <a:p>
            <a:pPr indent="0" marL="0">
              <a:buNone/>
            </a:pPr>
            <a:r>
              <a:rPr lang="en-US" sz="1400" b="1" dirty="0">
                <a:solidFill>
                  <a:srgbClr val="0B2B2A"/>
                </a:solidFill>
                <a:latin typeface="Calibri" pitchFamily="34" charset="0"/>
                <a:ea typeface="Calibri" pitchFamily="34" charset="-122"/>
                <a:cs typeface="Calibri" pitchFamily="34" charset="-120"/>
              </a:rPr>
              <a:t>Negative prices</a:t>
            </a:r>
            <a:endParaRPr lang="en-US" sz="1400" dirty="0"/>
          </a:p>
        </p:txBody>
      </p:sp>
      <p:sp>
        <p:nvSpPr>
          <p:cNvPr id="30" name="Text 28"/>
          <p:cNvSpPr txBox="1"/>
          <p:nvPr/>
        </p:nvSpPr>
        <p:spPr>
          <a:xfrm>
            <a:off x="7324344" y="2377440"/>
            <a:ext cx="1325880" cy="731520"/>
          </a:xfrm>
          <a:prstGeom prst="rect">
            <a:avLst/>
          </a:prstGeom>
          <a:noFill/>
          <a:ln/>
        </p:spPr>
        <p:txBody>
          <a:bodyPr wrap="square" lIns="0" tIns="0" rIns="0" bIns="0" rtlCol="0" anchor="t"/>
          <a:lstStyle/>
          <a:p>
            <a:pPr indent="0" marL="0">
              <a:buNone/>
            </a:pPr>
            <a:r>
              <a:rPr lang="en-US" sz="1100" dirty="0">
                <a:solidFill>
                  <a:srgbClr val="5B6B6A"/>
                </a:solidFill>
                <a:latin typeface="Calibri" pitchFamily="34" charset="0"/>
                <a:ea typeface="Calibri" pitchFamily="34" charset="-122"/>
                <a:cs typeface="Calibri" pitchFamily="34" charset="-120"/>
              </a:rPr>
              <a:t>-400000</a:t>
            </a:r>
            <a:endParaRPr lang="en-US" sz="1100" dirty="0"/>
          </a:p>
        </p:txBody>
      </p:sp>
      <p:sp>
        <p:nvSpPr>
          <p:cNvPr id="31" name="Shape 29"/>
          <p:cNvSpPr/>
          <p:nvPr/>
        </p:nvSpPr>
        <p:spPr>
          <a:xfrm>
            <a:off x="7296912" y="3291840"/>
            <a:ext cx="1335024" cy="457200"/>
          </a:xfrm>
          <a:prstGeom prst="roundRect">
            <a:avLst>
              <a:gd name="adj" fmla="val 12000"/>
            </a:avLst>
          </a:prstGeom>
          <a:solidFill>
            <a:srgbClr val="F1F6F6"/>
          </a:solidFill>
          <a:ln w="12700">
            <a:solidFill>
              <a:srgbClr val="F1F6F6"/>
            </a:solidFill>
            <a:prstDash val="solid"/>
          </a:ln>
        </p:spPr>
      </p:sp>
      <p:sp>
        <p:nvSpPr>
          <p:cNvPr id="32" name="Text 30"/>
          <p:cNvSpPr txBox="1"/>
          <p:nvPr/>
        </p:nvSpPr>
        <p:spPr>
          <a:xfrm>
            <a:off x="7296912" y="3291840"/>
            <a:ext cx="1335024" cy="457200"/>
          </a:xfrm>
          <a:prstGeom prst="rect">
            <a:avLst/>
          </a:prstGeom>
          <a:noFill/>
          <a:ln/>
        </p:spPr>
        <p:txBody>
          <a:bodyPr wrap="square" lIns="0" tIns="0" rIns="0" bIns="0" rtlCol="0" anchor="ctr"/>
          <a:lstStyle/>
          <a:p>
            <a:pPr algn="ctr" indent="0" marL="0">
              <a:buNone/>
            </a:pPr>
            <a:r>
              <a:rPr lang="en-US" sz="950" dirty="0">
                <a:solidFill>
                  <a:srgbClr val="0F766E"/>
                </a:solidFill>
                <a:latin typeface="Courier New" pitchFamily="34" charset="0"/>
                <a:ea typeface="Courier New" pitchFamily="34" charset="-122"/>
                <a:cs typeface="Courier New" pitchFamily="34" charset="-120"/>
              </a:rPr>
              <a:t>abs()</a:t>
            </a:r>
            <a:endParaRPr lang="en-US" sz="950" dirty="0"/>
          </a:p>
        </p:txBody>
      </p:sp>
      <p:sp>
        <p:nvSpPr>
          <p:cNvPr id="33" name="Text 3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b="1" dirty="0">
                <a:solidFill>
                  <a:srgbClr val="0F766E"/>
                </a:solidFill>
                <a:latin typeface="Calibri" pitchFamily="34" charset="0"/>
                <a:ea typeface="Calibri" pitchFamily="34" charset="-122"/>
                <a:cs typeface="Calibri" pitchFamily="34" charset="-120"/>
              </a:rPr>
              <a:t>304 raw rows  →  300 clean rows  ·  + new column total_amount = quantity × unit_price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Transform with pandas</a:t>
            </a:r>
            <a:endParaRPr lang="en-US" sz="2800" dirty="0"/>
          </a:p>
        </p:txBody>
      </p:sp>
      <p:sp>
        <p:nvSpPr>
          <p:cNvPr id="3" name="Shape 1"/>
          <p:cNvSpPr/>
          <p:nvPr/>
        </p:nvSpPr>
        <p:spPr>
          <a:xfrm>
            <a:off x="457200" y="1097280"/>
            <a:ext cx="4937760" cy="3429000"/>
          </a:xfrm>
          <a:prstGeom prst="roundRect">
            <a:avLst>
              <a:gd name="adj" fmla="val 2133"/>
            </a:avLst>
          </a:prstGeom>
          <a:solidFill>
            <a:srgbClr val="0B2B2A"/>
          </a:solidFill>
          <a:ln w="12700">
            <a:solidFill>
              <a:srgbClr val="0B2B2A"/>
            </a:solidFill>
            <a:prstDash val="solid"/>
          </a:ln>
        </p:spPr>
      </p:sp>
      <p:sp>
        <p:nvSpPr>
          <p:cNvPr id="4" name="Text 2"/>
          <p:cNvSpPr txBox="1"/>
          <p:nvPr/>
        </p:nvSpPr>
        <p:spPr>
          <a:xfrm>
            <a:off x="594360" y="1188720"/>
            <a:ext cx="4663440" cy="3246120"/>
          </a:xfrm>
          <a:prstGeom prst="rect">
            <a:avLst/>
          </a:prstGeom>
          <a:noFill/>
          <a:ln/>
        </p:spPr>
        <p:txBody>
          <a:bodyPr wrap="square" lIns="0" tIns="0" rIns="0" bIns="0" rtlCol="0" anchor="t"/>
          <a:lstStyle/>
          <a:p>
            <a:pPr indent="0" marL="0">
              <a:buNone/>
            </a:pPr>
            <a:r>
              <a:rPr lang="en-US" sz="1100" dirty="0">
                <a:solidFill>
                  <a:srgbClr val="E6FFFA"/>
                </a:solidFill>
                <a:latin typeface="Courier New" pitchFamily="34" charset="0"/>
                <a:ea typeface="Courier New" pitchFamily="34" charset="-122"/>
                <a:cs typeface="Courier New" pitchFamily="34" charset="-120"/>
              </a:rPr>
              <a:t>def transform_sales(df):</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 = df.drop_duplicates()</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iso = pd.to_datetime(df.transaction_date,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format="%Y-%m-%d", errors="coerce")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dmy = pd.to_datetime(df.transaction_date,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format="%d/%m/%Y", errors="coerce")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df["transaction_date"] = iso.fillna(dmy).dt.date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df["city"] = df.city.str.strip().str.title()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df["quantity"] = pd.to_numeric(df.quantity,</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errors="coerce").fillna(1).astype(int)</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df["unit_price"] = pd.to_numeric(</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df.unit_price).abs()</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df["total_amount"] = df.quantity * df.unit_price</a:t>
            </a:r>
            <a:endParaRPr lang="en-US" sz="1100" dirty="0"/>
          </a:p>
          <a:p>
            <a:pPr indent="0" marL="0">
              <a:buNone/>
            </a:pPr>
            <a:r>
              <a:rPr lang="en-US" sz="1100" dirty="0">
                <a:solidFill>
                  <a:srgbClr val="E6FFFA"/>
                </a:solidFill>
                <a:latin typeface="Courier New" pitchFamily="34" charset="0"/>
                <a:ea typeface="Courier New" pitchFamily="34" charset="-122"/>
                <a:cs typeface="Courier New" pitchFamily="34" charset="-120"/>
              </a:rPr>
              <a:t>    return df</a:t>
            </a:r>
            <a:endParaRPr lang="en-US" sz="1100" dirty="0"/>
          </a:p>
        </p:txBody>
      </p:sp>
      <p:sp>
        <p:nvSpPr>
          <p:cNvPr id="5" name="Shape 3"/>
          <p:cNvSpPr/>
          <p:nvPr/>
        </p:nvSpPr>
        <p:spPr>
          <a:xfrm>
            <a:off x="5715000" y="1143000"/>
            <a:ext cx="502920" cy="502920"/>
          </a:xfrm>
          <a:prstGeom prst="ellipse">
            <a:avLst/>
          </a:prstGeom>
          <a:solidFill>
            <a:srgbClr val="FFF7E6"/>
          </a:solidFill>
          <a:ln w="12700">
            <a:solidFill>
              <a:srgbClr val="FFF7E6"/>
            </a:solidFill>
            <a:prstDash val="solid"/>
          </a:ln>
        </p:spPr>
      </p:sp>
      <p:pic>
        <p:nvPicPr>
          <p:cNvPr id="6" name="Image 0" descr="preencoded.png">    </p:cNvPr>
          <p:cNvPicPr>
            <a:picLocks noChangeAspect="1"/>
          </p:cNvPicPr>
          <p:nvPr/>
        </p:nvPicPr>
        <p:blipFill>
          <a:blip r:embed="rId1"/>
          <a:stretch>
            <a:fillRect/>
          </a:stretch>
        </p:blipFill>
        <p:spPr>
          <a:xfrm>
            <a:off x="5840730" y="1268730"/>
            <a:ext cx="251460" cy="251460"/>
          </a:xfrm>
          <a:prstGeom prst="rect">
            <a:avLst/>
          </a:prstGeom>
        </p:spPr>
      </p:pic>
      <p:sp>
        <p:nvSpPr>
          <p:cNvPr id="7" name="Text 4"/>
          <p:cNvSpPr txBox="1"/>
          <p:nvPr/>
        </p:nvSpPr>
        <p:spPr>
          <a:xfrm>
            <a:off x="6355080" y="1234440"/>
            <a:ext cx="2286000" cy="36576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Common pitfall</a:t>
            </a:r>
            <a:endParaRPr lang="en-US" sz="1600" dirty="0"/>
          </a:p>
        </p:txBody>
      </p:sp>
      <p:sp>
        <p:nvSpPr>
          <p:cNvPr id="8" name="Text 5"/>
          <p:cNvSpPr txBox="1"/>
          <p:nvPr/>
        </p:nvSpPr>
        <p:spPr>
          <a:xfrm>
            <a:off x="5715000" y="1783080"/>
            <a:ext cx="2971800" cy="1097280"/>
          </a:xfrm>
          <a:prstGeom prst="rect">
            <a:avLst/>
          </a:prstGeom>
          <a:noFill/>
          <a:ln/>
        </p:spPr>
        <p:txBody>
          <a:bodyPr wrap="square" lIns="0" tIns="0" rIns="0" bIns="0" rtlCol="0" anchor="t"/>
          <a:lstStyle/>
          <a:p>
            <a:pPr indent="0" marL="0">
              <a:buNone/>
            </a:pPr>
            <a:r>
              <a:rPr lang="en-US" sz="1250" dirty="0">
                <a:solidFill>
                  <a:srgbClr val="0B2B2A"/>
                </a:solidFill>
                <a:latin typeface="Calibri" pitchFamily="34" charset="0"/>
                <a:ea typeface="Calibri" pitchFamily="34" charset="-122"/>
                <a:cs typeface="Calibri" pitchFamily="34" charset="-120"/>
              </a:rPr>
              <a:t>Parsing with dayfirst=True turns 2026-03-12 into 3 December. Parse each format explicitly.</a:t>
            </a:r>
            <a:endParaRPr lang="en-US" sz="1250" dirty="0"/>
          </a:p>
        </p:txBody>
      </p:sp>
      <p:sp>
        <p:nvSpPr>
          <p:cNvPr id="9" name="Shape 6"/>
          <p:cNvSpPr/>
          <p:nvPr/>
        </p:nvSpPr>
        <p:spPr>
          <a:xfrm>
            <a:off x="5715000" y="2926080"/>
            <a:ext cx="502920" cy="502920"/>
          </a:xfrm>
          <a:prstGeom prst="ellipse">
            <a:avLst/>
          </a:prstGeom>
          <a:solidFill>
            <a:srgbClr val="F1F6F6"/>
          </a:solidFill>
          <a:ln w="12700">
            <a:solidFill>
              <a:srgbClr val="F1F6F6"/>
            </a:solidFill>
            <a:prstDash val="solid"/>
          </a:ln>
        </p:spPr>
      </p:sp>
      <p:pic>
        <p:nvPicPr>
          <p:cNvPr id="10" name="Image 1" descr="preencoded.png">    </p:cNvPr>
          <p:cNvPicPr>
            <a:picLocks noChangeAspect="1"/>
          </p:cNvPicPr>
          <p:nvPr/>
        </p:nvPicPr>
        <p:blipFill>
          <a:blip r:embed="rId2"/>
          <a:stretch>
            <a:fillRect/>
          </a:stretch>
        </p:blipFill>
        <p:spPr>
          <a:xfrm>
            <a:off x="5840730" y="3051810"/>
            <a:ext cx="251460" cy="251460"/>
          </a:xfrm>
          <a:prstGeom prst="rect">
            <a:avLst/>
          </a:prstGeom>
        </p:spPr>
      </p:pic>
      <p:sp>
        <p:nvSpPr>
          <p:cNvPr id="11" name="Text 7"/>
          <p:cNvSpPr txBox="1"/>
          <p:nvPr/>
        </p:nvSpPr>
        <p:spPr>
          <a:xfrm>
            <a:off x="6355080" y="3017520"/>
            <a:ext cx="2286000" cy="36576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Always validate</a:t>
            </a:r>
            <a:endParaRPr lang="en-US" sz="1600" dirty="0"/>
          </a:p>
        </p:txBody>
      </p:sp>
      <p:sp>
        <p:nvSpPr>
          <p:cNvPr id="12" name="Text 8"/>
          <p:cNvSpPr txBox="1"/>
          <p:nvPr/>
        </p:nvSpPr>
        <p:spPr>
          <a:xfrm>
            <a:off x="5715000" y="3566160"/>
            <a:ext cx="2971800" cy="822960"/>
          </a:xfrm>
          <a:prstGeom prst="rect">
            <a:avLst/>
          </a:prstGeom>
          <a:noFill/>
          <a:ln/>
        </p:spPr>
        <p:txBody>
          <a:bodyPr wrap="square" lIns="0" tIns="0" rIns="0" bIns="0" rtlCol="0" anchor="t"/>
          <a:lstStyle/>
          <a:p>
            <a:pPr indent="0" marL="0">
              <a:buNone/>
            </a:pPr>
            <a:r>
              <a:rPr lang="en-US" sz="1250" dirty="0">
                <a:solidFill>
                  <a:srgbClr val="0B2B2A"/>
                </a:solidFill>
                <a:latin typeface="Calibri" pitchFamily="34" charset="0"/>
                <a:ea typeface="Calibri" pitchFamily="34" charset="-122"/>
                <a:cs typeface="Calibri" pitchFamily="34" charset="-120"/>
              </a:rPr>
              <a:t>Use assert: no duplicates, price ≥ 0, exactly 5 cities, dates ≤ end of period.</a:t>
            </a:r>
            <a:endParaRPr lang="en-US" sz="12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p>
            <a:pPr algn="l" indent="0" marL="0">
              <a:buNone/>
            </a:pPr>
            <a:r>
              <a:rPr lang="en-US" sz="4000" b="1" dirty="0">
                <a:solidFill>
                  <a:schemeClr val="bg1"/>
                </a:solidFill>
                <a:latin typeface="Arial" pitchFamily="34" charset="0"/>
                <a:ea typeface="Arial" pitchFamily="34" charset="-122"/>
                <a:cs typeface="Arial" pitchFamily="34" charset="-120"/>
              </a:rPr>
              <a:t>3 · Load</a:t>
            </a:r>
            <a:endParaRPr lang="en-US" sz="4000" dirty="0"/>
          </a:p>
        </p:txBody>
      </p:sp>
      <p:sp>
        <p:nvSpPr>
          <p:cNvPr id="3" name="Text 0"/>
          <p:cNvSpPr/>
          <p:nvPr>
            <p:ph idx="101" type="body" hasCustomPrompt="1"/>
          </p:nvPr>
        </p:nvSpPr>
        <p:spPr>
          <a:xfrm>
            <a:off x="548640" y="2743200"/>
            <a:ext cx="8046720" cy="731520"/>
          </a:xfrm>
          <a:prstGeom prst="rect">
            <a:avLst/>
          </a:prstGeom>
          <a:noFill/>
          <a:ln/>
        </p:spPr>
        <p:txBody>
          <a:bodyPr wrap="square" rtlCol="0"/>
          <a:lstStyle/>
          <a:p>
            <a:pPr algn="l" indent="0" marL="0">
              <a:buNone/>
            </a:pPr>
            <a:r>
              <a:rPr lang="en-US" sz="1800" dirty="0">
                <a:solidFill>
                  <a:srgbClr val="CCFBF1"/>
                </a:solidFill>
              </a:rPr>
              <a:t>Storing clean data in PostgreSQL</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CFBF1"/>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to_sql &amp; idempotency</a:t>
            </a:r>
            <a:endParaRPr lang="en-US" sz="2800" dirty="0"/>
          </a:p>
        </p:txBody>
      </p:sp>
      <p:sp>
        <p:nvSpPr>
          <p:cNvPr id="3" name="Shape 1"/>
          <p:cNvSpPr/>
          <p:nvPr/>
        </p:nvSpPr>
        <p:spPr>
          <a:xfrm>
            <a:off x="457200" y="1097280"/>
            <a:ext cx="4572000" cy="3017520"/>
          </a:xfrm>
          <a:prstGeom prst="roundRect">
            <a:avLst>
              <a:gd name="adj" fmla="val 2424"/>
            </a:avLst>
          </a:prstGeom>
          <a:solidFill>
            <a:srgbClr val="0B2B2A"/>
          </a:solidFill>
          <a:ln w="12700">
            <a:solidFill>
              <a:srgbClr val="0B2B2A"/>
            </a:solidFill>
            <a:prstDash val="solid"/>
          </a:ln>
        </p:spPr>
      </p:sp>
      <p:sp>
        <p:nvSpPr>
          <p:cNvPr id="4" name="Text 2"/>
          <p:cNvSpPr txBox="1"/>
          <p:nvPr/>
        </p:nvSpPr>
        <p:spPr>
          <a:xfrm>
            <a:off x="594360" y="1188720"/>
            <a:ext cx="4297680" cy="2834640"/>
          </a:xfrm>
          <a:prstGeom prst="rect">
            <a:avLst/>
          </a:prstGeom>
          <a:noFill/>
          <a:ln/>
        </p:spPr>
        <p:txBody>
          <a:bodyPr wrap="square" lIns="0" tIns="0" rIns="0" bIns="0" rtlCol="0" anchor="t"/>
          <a:lstStyle/>
          <a:p>
            <a:pPr indent="0" marL="0">
              <a:buNone/>
            </a:pPr>
            <a:r>
              <a:rPr lang="en-US" sz="1150" dirty="0">
                <a:solidFill>
                  <a:srgbClr val="E6FFFA"/>
                </a:solidFill>
                <a:latin typeface="Courier New" pitchFamily="34" charset="0"/>
                <a:ea typeface="Courier New" pitchFamily="34" charset="-122"/>
                <a:cs typeface="Courier New" pitchFamily="34" charset="-120"/>
              </a:rPr>
              <a:t>engine = create_engine(URL.create(</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"postgresql+psycopg2",</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username=DB_USER, password=DB_PASSWORD,</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host=DB_HOST, port=5432,</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database="workshop"))</a:t>
            </a:r>
            <a:endParaRPr lang="en-US" sz="1150" dirty="0"/>
          </a:p>
          <a:p>
            <a:pPr indent="0" marL="0">
              <a:buNone/>
            </a:pP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df_clean.to_sql("sales_clean", engine,</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schema=SCHEMA, if_exists="replace",</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index=False,</a:t>
            </a:r>
            <a:endParaRPr lang="en-US" sz="1150" dirty="0"/>
          </a:p>
          <a:p>
            <a:pPr indent="0" marL="0">
              <a:buNone/>
            </a:pPr>
            <a:r>
              <a:rPr lang="en-US" sz="1150" dirty="0">
                <a:solidFill>
                  <a:srgbClr val="E6FFFA"/>
                </a:solidFill>
                <a:latin typeface="Courier New" pitchFamily="34" charset="0"/>
                <a:ea typeface="Courier New" pitchFamily="34" charset="-122"/>
                <a:cs typeface="Courier New" pitchFamily="34" charset="-120"/>
              </a:rPr>
              <a:t>    dtype={"transaction_date": Date()})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303520" y="1097280"/>
          <a:ext cx="3383280" cy="914400"/>
        </p:xfrm>
        <a:graphic>
          <a:graphicData uri="http://schemas.openxmlformats.org/drawingml/2006/table">
            <a:tbl>
              <a:tblPr/>
              <a:tblGrid>
                <a:gridCol w="1005840"/>
                <a:gridCol w="23774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if_exists</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Behavior</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r>
              <a:tr h="384048">
                <a:tc>
                  <a:txBody>
                    <a:bodyPr/>
                    <a:lstStyle/>
                    <a:p>
                      <a:pPr indent="0" marL="0">
                        <a:buNone/>
                      </a:pPr>
                      <a:r>
                        <a:rPr lang="en-US" sz="1200" dirty="0">
                          <a:solidFill>
                            <a:srgbClr val="0B2B2A"/>
                          </a:solidFill>
                          <a:latin typeface="Calibri" pitchFamily="34" charset="0"/>
                          <a:ea typeface="Calibri" pitchFamily="34" charset="-122"/>
                          <a:cs typeface="Calibri" pitchFamily="34" charset="-120"/>
                        </a:rPr>
                        <a:t>replace</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200" dirty="0">
                          <a:solidFill>
                            <a:srgbClr val="0B2B2A"/>
                          </a:solidFill>
                          <a:latin typeface="Calibri" pitchFamily="34" charset="0"/>
                          <a:ea typeface="Calibri" pitchFamily="34" charset="-122"/>
                          <a:cs typeface="Calibri" pitchFamily="34" charset="-120"/>
                        </a:rPr>
                        <a:t>Drop &amp; recreate → safe to rerun</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84048">
                <a:tc>
                  <a:txBody>
                    <a:bodyPr/>
                    <a:lstStyle/>
                    <a:p>
                      <a:pPr indent="0" marL="0">
                        <a:buNone/>
                      </a:pPr>
                      <a:r>
                        <a:rPr lang="en-US" sz="1200" dirty="0">
                          <a:solidFill>
                            <a:srgbClr val="0B2B2A"/>
                          </a:solidFill>
                          <a:latin typeface="Calibri" pitchFamily="34" charset="0"/>
                          <a:ea typeface="Calibri" pitchFamily="34" charset="-122"/>
                          <a:cs typeface="Calibri" pitchFamily="34" charset="-120"/>
                        </a:rPr>
                        <a:t>append</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200" dirty="0">
                          <a:solidFill>
                            <a:srgbClr val="0B2B2A"/>
                          </a:solidFill>
                          <a:latin typeface="Calibri" pitchFamily="34" charset="0"/>
                          <a:ea typeface="Calibri" pitchFamily="34" charset="-122"/>
                          <a:cs typeface="Calibri" pitchFamily="34" charset="-120"/>
                        </a:rPr>
                        <a:t>Add rows → may duplicate</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384048">
                <a:tc>
                  <a:txBody>
                    <a:bodyPr/>
                    <a:lstStyle/>
                    <a:p>
                      <a:pPr indent="0" marL="0">
                        <a:buNone/>
                      </a:pPr>
                      <a:r>
                        <a:rPr lang="en-US" sz="1200" dirty="0">
                          <a:solidFill>
                            <a:srgbClr val="0B2B2A"/>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indent="0" marL="0">
                        <a:buNone/>
                      </a:pPr>
                      <a:r>
                        <a:rPr lang="en-US" sz="1200" dirty="0">
                          <a:solidFill>
                            <a:srgbClr val="0B2B2A"/>
                          </a:solidFill>
                          <a:latin typeface="Calibri" pitchFamily="34" charset="0"/>
                          <a:ea typeface="Calibri" pitchFamily="34" charset="-122"/>
                          <a:cs typeface="Calibri" pitchFamily="34" charset="-120"/>
                        </a:rPr>
                        <a:t>Error if table exists</a:t>
                      </a:r>
                      <a:endParaRPr lang="en-US" sz="12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bl>
          </a:graphicData>
        </a:graphic>
      </p:graphicFrame>
      <p:sp>
        <p:nvSpPr>
          <p:cNvPr id="6" name="Shape 3"/>
          <p:cNvSpPr/>
          <p:nvPr/>
        </p:nvSpPr>
        <p:spPr>
          <a:xfrm>
            <a:off x="5303520" y="2880360"/>
            <a:ext cx="3383280" cy="1234440"/>
          </a:xfrm>
          <a:prstGeom prst="roundRect">
            <a:avLst>
              <a:gd name="adj" fmla="val 8889"/>
            </a:avLst>
          </a:prstGeom>
          <a:solidFill>
            <a:srgbClr val="FFF7E6"/>
          </a:solidFill>
          <a:ln w="12700">
            <a:solidFill>
              <a:srgbClr val="FFF7E6"/>
            </a:solidFill>
            <a:prstDash val="solid"/>
          </a:ln>
        </p:spPr>
      </p:sp>
      <p:sp>
        <p:nvSpPr>
          <p:cNvPr id="7" name="Text 4"/>
          <p:cNvSpPr txBox="1"/>
          <p:nvPr/>
        </p:nvSpPr>
        <p:spPr>
          <a:xfrm>
            <a:off x="5486400" y="3017520"/>
            <a:ext cx="3017520" cy="1005840"/>
          </a:xfrm>
          <a:prstGeom prst="rect">
            <a:avLst/>
          </a:prstGeom>
          <a:noFill/>
          <a:ln/>
        </p:spPr>
        <p:txBody>
          <a:bodyPr wrap="square" lIns="0" tIns="0" rIns="0" bIns="0" rtlCol="0" anchor="t"/>
          <a:lstStyle/>
          <a:p>
            <a:pPr indent="0" marL="0">
              <a:buNone/>
            </a:pPr>
            <a:r>
              <a:rPr lang="en-US" sz="1300" b="1" dirty="0">
                <a:solidFill>
                  <a:srgbClr val="0B2B2A"/>
                </a:solidFill>
                <a:latin typeface="Calibri" pitchFamily="34" charset="0"/>
                <a:ea typeface="Calibri" pitchFamily="34" charset="-122"/>
                <a:cs typeface="Calibri" pitchFamily="34" charset="-120"/>
              </a:rPr>
              <a:t>Idempotent: </a:t>
            </a:r>
            <a:pPr indent="0" marL="0">
              <a:buNone/>
            </a:pPr>
            <a:r>
              <a:rPr lang="en-US" sz="1300" dirty="0">
                <a:solidFill>
                  <a:srgbClr val="0B2B2A"/>
                </a:solidFill>
                <a:latin typeface="Calibri" pitchFamily="34" charset="0"/>
                <a:ea typeface="Calibri" pitchFamily="34" charset="-122"/>
                <a:cs typeface="Calibri" pitchFamily="34" charset="-120"/>
              </a:rPr>
              <a:t>run it once or ten times — same result. A must for scheduled pipelines.</a:t>
            </a:r>
            <a:endParaRPr lang="en-US" sz="1300" dirty="0"/>
          </a:p>
        </p:txBody>
      </p:sp>
      <p:sp>
        <p:nvSpPr>
          <p:cNvPr id="8" name="Text 5"/>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50" i="1" dirty="0">
                <a:solidFill>
                  <a:srgbClr val="5B6B6A"/>
                </a:solidFill>
                <a:latin typeface="Calibri" pitchFamily="34" charset="0"/>
                <a:ea typeface="Calibri" pitchFamily="34" charset="-122"/>
                <a:cs typeface="Calibri" pitchFamily="34" charset="-120"/>
              </a:rPr>
              <a:t>Verify: DataFrame row count = database row count.</a:t>
            </a:r>
            <a:endParaRPr lang="en-US" sz="12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4 · SQL answers business questions</a:t>
            </a:r>
            <a:endParaRPr lang="en-US" sz="2800" dirty="0"/>
          </a:p>
        </p:txBody>
      </p:sp>
      <p:sp>
        <p:nvSpPr>
          <p:cNvPr id="3" name="Shape 1"/>
          <p:cNvSpPr/>
          <p:nvPr/>
        </p:nvSpPr>
        <p:spPr>
          <a:xfrm>
            <a:off x="457200" y="1097280"/>
            <a:ext cx="4023360" cy="1691640"/>
          </a:xfrm>
          <a:prstGeom prst="roundRect">
            <a:avLst>
              <a:gd name="adj" fmla="val 4324"/>
            </a:avLst>
          </a:prstGeom>
          <a:solidFill>
            <a:srgbClr val="0B2B2A"/>
          </a:solidFill>
          <a:ln w="12700">
            <a:solidFill>
              <a:srgbClr val="0B2B2A"/>
            </a:solidFill>
            <a:prstDash val="solid"/>
          </a:ln>
        </p:spPr>
      </p:sp>
      <p:sp>
        <p:nvSpPr>
          <p:cNvPr id="4" name="Text 2"/>
          <p:cNvSpPr txBox="1"/>
          <p:nvPr/>
        </p:nvSpPr>
        <p:spPr>
          <a:xfrm>
            <a:off x="594360" y="1188720"/>
            <a:ext cx="3749040" cy="1508760"/>
          </a:xfrm>
          <a:prstGeom prst="rect">
            <a:avLst/>
          </a:prstGeom>
          <a:noFill/>
          <a:ln/>
        </p:spPr>
        <p:txBody>
          <a:bodyPr wrap="square" lIns="0" tIns="0" rIns="0" bIns="0" rtlCol="0" anchor="t"/>
          <a:lstStyle/>
          <a:p>
            <a:pPr indent="0" marL="0">
              <a:buNone/>
            </a:pPr>
            <a:r>
              <a:rPr lang="en-US" sz="1200" dirty="0">
                <a:solidFill>
                  <a:srgbClr val="E6FFFA"/>
                </a:solidFill>
                <a:latin typeface="Courier New" pitchFamily="34" charset="0"/>
                <a:ea typeface="Courier New" pitchFamily="34" charset="-122"/>
                <a:cs typeface="Courier New" pitchFamily="34" charset="-120"/>
              </a:rPr>
              <a:t>SELECT city,</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COUNT(*)          AS transactions,</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SUM(total_amount) AS revenue</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FROM   sales_clean</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GROUP  BY city</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ORDER  BY revenue DESC;</a:t>
            </a:r>
            <a:endParaRPr lang="en-US" sz="1200" dirty="0"/>
          </a:p>
        </p:txBody>
      </p:sp>
      <p:sp>
        <p:nvSpPr>
          <p:cNvPr id="5" name="Shape 3"/>
          <p:cNvSpPr/>
          <p:nvPr/>
        </p:nvSpPr>
        <p:spPr>
          <a:xfrm>
            <a:off x="457200" y="2926080"/>
            <a:ext cx="4023360" cy="1463040"/>
          </a:xfrm>
          <a:prstGeom prst="roundRect">
            <a:avLst>
              <a:gd name="adj" fmla="val 5000"/>
            </a:avLst>
          </a:prstGeom>
          <a:solidFill>
            <a:srgbClr val="0B2B2A"/>
          </a:solidFill>
          <a:ln w="12700">
            <a:solidFill>
              <a:srgbClr val="0B2B2A"/>
            </a:solidFill>
            <a:prstDash val="solid"/>
          </a:ln>
        </p:spPr>
      </p:sp>
      <p:sp>
        <p:nvSpPr>
          <p:cNvPr id="6" name="Text 4"/>
          <p:cNvSpPr txBox="1"/>
          <p:nvPr/>
        </p:nvSpPr>
        <p:spPr>
          <a:xfrm>
            <a:off x="594360" y="3017520"/>
            <a:ext cx="3749040" cy="1280160"/>
          </a:xfrm>
          <a:prstGeom prst="rect">
            <a:avLst/>
          </a:prstGeom>
          <a:noFill/>
          <a:ln/>
        </p:spPr>
        <p:txBody>
          <a:bodyPr wrap="square" lIns="0" tIns="0" rIns="0" bIns="0" rtlCol="0" anchor="t"/>
          <a:lstStyle/>
          <a:p>
            <a:pPr indent="0" marL="0">
              <a:buNone/>
            </a:pPr>
            <a:r>
              <a:rPr lang="en-US" sz="1200" dirty="0">
                <a:solidFill>
                  <a:srgbClr val="E6FFFA"/>
                </a:solidFill>
                <a:latin typeface="Courier New" pitchFamily="34" charset="0"/>
                <a:ea typeface="Courier New" pitchFamily="34" charset="-122"/>
                <a:cs typeface="Courier New" pitchFamily="34" charset="-120"/>
              </a:rPr>
              <a:t>SELECT month, revenue,</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LAG(revenue) OVER (ORDER BY month)</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    AS prev_month</a:t>
            </a:r>
            <a:endParaRPr lang="en-US" sz="1200" dirty="0"/>
          </a:p>
          <a:p>
            <a:pPr indent="0" marL="0">
              <a:buNone/>
            </a:pPr>
            <a:r>
              <a:rPr lang="en-US" sz="1200" dirty="0">
                <a:solidFill>
                  <a:srgbClr val="E6FFFA"/>
                </a:solidFill>
                <a:latin typeface="Courier New" pitchFamily="34" charset="0"/>
                <a:ea typeface="Courier New" pitchFamily="34" charset="-122"/>
                <a:cs typeface="Courier New" pitchFamily="34" charset="-120"/>
              </a:rPr>
              <a:t>FROM monthly_revenue;</a:t>
            </a:r>
            <a:endParaRPr lang="en-US" sz="1200" dirty="0"/>
          </a:p>
        </p:txBody>
      </p:sp>
      <p:graphicFrame>
        <p:nvGraphicFramePr>
          <p:cNvPr id="7" name="Chart 0" descr=""/>
          <p:cNvGraphicFramePr/>
          <p:nvPr/>
        </p:nvGraphicFramePr>
        <p:xfrm>
          <a:off x="4754880" y="1051560"/>
          <a:ext cx="3931920" cy="3383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5 · Dashboard: from numbers to decisions</a:t>
            </a:r>
            <a:endParaRPr lang="en-US" sz="2800" dirty="0"/>
          </a:p>
        </p:txBody>
      </p:sp>
      <p:sp>
        <p:nvSpPr>
          <p:cNvPr id="3" name="Shape 1"/>
          <p:cNvSpPr/>
          <p:nvPr/>
        </p:nvSpPr>
        <p:spPr>
          <a:xfrm>
            <a:off x="457200" y="1097280"/>
            <a:ext cx="1920240" cy="960120"/>
          </a:xfrm>
          <a:prstGeom prst="roundRect">
            <a:avLst>
              <a:gd name="adj" fmla="val 11429"/>
            </a:avLst>
          </a:prstGeom>
          <a:solidFill>
            <a:srgbClr val="F1F6F6"/>
          </a:solidFill>
          <a:ln w="12700">
            <a:solidFill>
              <a:srgbClr val="F1F6F6"/>
            </a:solidFill>
            <a:prstDash val="solid"/>
          </a:ln>
        </p:spPr>
      </p:sp>
      <p:sp>
        <p:nvSpPr>
          <p:cNvPr id="4" name="Text 2"/>
          <p:cNvSpPr txBox="1"/>
          <p:nvPr/>
        </p:nvSpPr>
        <p:spPr>
          <a:xfrm>
            <a:off x="594360" y="1188720"/>
            <a:ext cx="1691640" cy="457200"/>
          </a:xfrm>
          <a:prstGeom prst="rect">
            <a:avLst/>
          </a:prstGeom>
          <a:noFill/>
          <a:ln/>
        </p:spPr>
        <p:txBody>
          <a:bodyPr wrap="square" lIns="0" tIns="0" rIns="0" bIns="0" rtlCol="0" anchor="t"/>
          <a:lstStyle/>
          <a:p>
            <a:pPr indent="0" marL="0">
              <a:buNone/>
            </a:pPr>
            <a:r>
              <a:rPr lang="en-US" sz="2200" b="1" dirty="0">
                <a:solidFill>
                  <a:srgbClr val="0F766E"/>
                </a:solidFill>
                <a:latin typeface="Arial" pitchFamily="34" charset="0"/>
                <a:ea typeface="Arial" pitchFamily="34" charset="-122"/>
                <a:cs typeface="Arial" pitchFamily="34" charset="-120"/>
              </a:rPr>
              <a:t>IDR 146.4M</a:t>
            </a:r>
            <a:endParaRPr lang="en-US" sz="2200" dirty="0"/>
          </a:p>
        </p:txBody>
      </p:sp>
      <p:sp>
        <p:nvSpPr>
          <p:cNvPr id="5" name="Text 3"/>
          <p:cNvSpPr txBox="1"/>
          <p:nvPr/>
        </p:nvSpPr>
        <p:spPr>
          <a:xfrm>
            <a:off x="594360" y="1664208"/>
            <a:ext cx="169164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Q1 revenue</a:t>
            </a:r>
            <a:endParaRPr lang="en-US" sz="1150" dirty="0"/>
          </a:p>
        </p:txBody>
      </p:sp>
      <p:sp>
        <p:nvSpPr>
          <p:cNvPr id="6" name="Shape 4"/>
          <p:cNvSpPr/>
          <p:nvPr/>
        </p:nvSpPr>
        <p:spPr>
          <a:xfrm>
            <a:off x="2560320" y="1097280"/>
            <a:ext cx="1920240" cy="960120"/>
          </a:xfrm>
          <a:prstGeom prst="roundRect">
            <a:avLst>
              <a:gd name="adj" fmla="val 11429"/>
            </a:avLst>
          </a:prstGeom>
          <a:solidFill>
            <a:srgbClr val="F1F6F6"/>
          </a:solidFill>
          <a:ln w="12700">
            <a:solidFill>
              <a:srgbClr val="F1F6F6"/>
            </a:solidFill>
            <a:prstDash val="solid"/>
          </a:ln>
        </p:spPr>
      </p:sp>
      <p:sp>
        <p:nvSpPr>
          <p:cNvPr id="7" name="Text 5"/>
          <p:cNvSpPr txBox="1"/>
          <p:nvPr/>
        </p:nvSpPr>
        <p:spPr>
          <a:xfrm>
            <a:off x="2697480" y="1188720"/>
            <a:ext cx="1691640" cy="457200"/>
          </a:xfrm>
          <a:prstGeom prst="rect">
            <a:avLst/>
          </a:prstGeom>
          <a:noFill/>
          <a:ln/>
        </p:spPr>
        <p:txBody>
          <a:bodyPr wrap="square" lIns="0" tIns="0" rIns="0" bIns="0" rtlCol="0" anchor="t"/>
          <a:lstStyle/>
          <a:p>
            <a:pPr indent="0" marL="0">
              <a:buNone/>
            </a:pPr>
            <a:r>
              <a:rPr lang="en-US" sz="2200" b="1" dirty="0">
                <a:solidFill>
                  <a:srgbClr val="0F766E"/>
                </a:solidFill>
                <a:latin typeface="Arial" pitchFamily="34" charset="0"/>
                <a:ea typeface="Arial" pitchFamily="34" charset="-122"/>
                <a:cs typeface="Arial" pitchFamily="34" charset="-120"/>
              </a:rPr>
              <a:t>300</a:t>
            </a:r>
            <a:endParaRPr lang="en-US" sz="2200" dirty="0"/>
          </a:p>
        </p:txBody>
      </p:sp>
      <p:sp>
        <p:nvSpPr>
          <p:cNvPr id="8" name="Text 6"/>
          <p:cNvSpPr txBox="1"/>
          <p:nvPr/>
        </p:nvSpPr>
        <p:spPr>
          <a:xfrm>
            <a:off x="2697480" y="1664208"/>
            <a:ext cx="169164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Transactions</a:t>
            </a:r>
            <a:endParaRPr lang="en-US" sz="1150" dirty="0"/>
          </a:p>
        </p:txBody>
      </p:sp>
      <p:sp>
        <p:nvSpPr>
          <p:cNvPr id="9" name="Shape 7"/>
          <p:cNvSpPr/>
          <p:nvPr/>
        </p:nvSpPr>
        <p:spPr>
          <a:xfrm>
            <a:off x="4663440" y="1097280"/>
            <a:ext cx="1920240" cy="960120"/>
          </a:xfrm>
          <a:prstGeom prst="roundRect">
            <a:avLst>
              <a:gd name="adj" fmla="val 11429"/>
            </a:avLst>
          </a:prstGeom>
          <a:solidFill>
            <a:srgbClr val="F1F6F6"/>
          </a:solidFill>
          <a:ln w="12700">
            <a:solidFill>
              <a:srgbClr val="F1F6F6"/>
            </a:solidFill>
            <a:prstDash val="solid"/>
          </a:ln>
        </p:spPr>
      </p:sp>
      <p:sp>
        <p:nvSpPr>
          <p:cNvPr id="10" name="Text 8"/>
          <p:cNvSpPr txBox="1"/>
          <p:nvPr/>
        </p:nvSpPr>
        <p:spPr>
          <a:xfrm>
            <a:off x="4800600" y="1188720"/>
            <a:ext cx="1691640" cy="457200"/>
          </a:xfrm>
          <a:prstGeom prst="rect">
            <a:avLst/>
          </a:prstGeom>
          <a:noFill/>
          <a:ln/>
        </p:spPr>
        <p:txBody>
          <a:bodyPr wrap="square" lIns="0" tIns="0" rIns="0" bIns="0" rtlCol="0" anchor="t"/>
          <a:lstStyle/>
          <a:p>
            <a:pPr indent="0" marL="0">
              <a:buNone/>
            </a:pPr>
            <a:r>
              <a:rPr lang="en-US" sz="2200" b="1" dirty="0">
                <a:solidFill>
                  <a:srgbClr val="0F766E"/>
                </a:solidFill>
                <a:latin typeface="Arial" pitchFamily="34" charset="0"/>
                <a:ea typeface="Arial" pitchFamily="34" charset="-122"/>
                <a:cs typeface="Arial" pitchFamily="34" charset="-120"/>
              </a:rPr>
              <a:t>59</a:t>
            </a:r>
            <a:endParaRPr lang="en-US" sz="2200" dirty="0"/>
          </a:p>
        </p:txBody>
      </p:sp>
      <p:sp>
        <p:nvSpPr>
          <p:cNvPr id="11" name="Text 9"/>
          <p:cNvSpPr txBox="1"/>
          <p:nvPr/>
        </p:nvSpPr>
        <p:spPr>
          <a:xfrm>
            <a:off x="4800600" y="1664208"/>
            <a:ext cx="169164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Customers</a:t>
            </a:r>
            <a:endParaRPr lang="en-US" sz="1150" dirty="0"/>
          </a:p>
        </p:txBody>
      </p:sp>
      <p:sp>
        <p:nvSpPr>
          <p:cNvPr id="12" name="Shape 10"/>
          <p:cNvSpPr/>
          <p:nvPr/>
        </p:nvSpPr>
        <p:spPr>
          <a:xfrm>
            <a:off x="6766560" y="1097280"/>
            <a:ext cx="1920240" cy="960120"/>
          </a:xfrm>
          <a:prstGeom prst="roundRect">
            <a:avLst>
              <a:gd name="adj" fmla="val 11429"/>
            </a:avLst>
          </a:prstGeom>
          <a:solidFill>
            <a:srgbClr val="F1F6F6"/>
          </a:solidFill>
          <a:ln w="12700">
            <a:solidFill>
              <a:srgbClr val="F1F6F6"/>
            </a:solidFill>
            <a:prstDash val="solid"/>
          </a:ln>
        </p:spPr>
      </p:sp>
      <p:sp>
        <p:nvSpPr>
          <p:cNvPr id="13" name="Text 11"/>
          <p:cNvSpPr txBox="1"/>
          <p:nvPr/>
        </p:nvSpPr>
        <p:spPr>
          <a:xfrm>
            <a:off x="6903720" y="1188720"/>
            <a:ext cx="1691640" cy="457200"/>
          </a:xfrm>
          <a:prstGeom prst="rect">
            <a:avLst/>
          </a:prstGeom>
          <a:noFill/>
          <a:ln/>
        </p:spPr>
        <p:txBody>
          <a:bodyPr wrap="square" lIns="0" tIns="0" rIns="0" bIns="0" rtlCol="0" anchor="t"/>
          <a:lstStyle/>
          <a:p>
            <a:pPr indent="0" marL="0">
              <a:buNone/>
            </a:pPr>
            <a:r>
              <a:rPr lang="en-US" sz="2200" b="1" dirty="0">
                <a:solidFill>
                  <a:srgbClr val="0F766E"/>
                </a:solidFill>
                <a:latin typeface="Arial" pitchFamily="34" charset="0"/>
                <a:ea typeface="Arial" pitchFamily="34" charset="-122"/>
                <a:cs typeface="Arial" pitchFamily="34" charset="-120"/>
              </a:rPr>
              <a:t>IDR 488K</a:t>
            </a:r>
            <a:endParaRPr lang="en-US" sz="2200" dirty="0"/>
          </a:p>
        </p:txBody>
      </p:sp>
      <p:sp>
        <p:nvSpPr>
          <p:cNvPr id="14" name="Text 12"/>
          <p:cNvSpPr txBox="1"/>
          <p:nvPr/>
        </p:nvSpPr>
        <p:spPr>
          <a:xfrm>
            <a:off x="6903720" y="1664208"/>
            <a:ext cx="1691640" cy="274320"/>
          </a:xfrm>
          <a:prstGeom prst="rect">
            <a:avLst/>
          </a:prstGeom>
          <a:noFill/>
          <a:ln/>
        </p:spPr>
        <p:txBody>
          <a:bodyPr wrap="square" lIns="0" tIns="0" rIns="0" bIns="0" rtlCol="0" anchor="t"/>
          <a:lstStyle/>
          <a:p>
            <a:pPr indent="0" marL="0">
              <a:buNone/>
            </a:pPr>
            <a:r>
              <a:rPr lang="en-US" sz="1150" dirty="0">
                <a:solidFill>
                  <a:srgbClr val="5B6B6A"/>
                </a:solidFill>
                <a:latin typeface="Calibri" pitchFamily="34" charset="0"/>
                <a:ea typeface="Calibri" pitchFamily="34" charset="-122"/>
                <a:cs typeface="Calibri" pitchFamily="34" charset="-120"/>
              </a:rPr>
              <a:t>Avg. per transaction</a:t>
            </a:r>
            <a:endParaRPr lang="en-US" sz="1150" dirty="0"/>
          </a:p>
        </p:txBody>
      </p:sp>
      <p:graphicFrame>
        <p:nvGraphicFramePr>
          <p:cNvPr id="15" name="Chart 0" descr=""/>
          <p:cNvGraphicFramePr/>
          <p:nvPr/>
        </p:nvGraphicFramePr>
        <p:xfrm>
          <a:off x="457200" y="2240280"/>
          <a:ext cx="402336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Chart 1" descr=""/>
          <p:cNvGraphicFramePr/>
          <p:nvPr/>
        </p:nvGraphicFramePr>
        <p:xfrm>
          <a:off x="4663440" y="2240280"/>
          <a:ext cx="4023360" cy="228600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From workshop to the real world</a:t>
            </a:r>
            <a:endParaRPr lang="en-US" sz="2800" dirty="0"/>
          </a:p>
        </p:txBody>
      </p:sp>
      <p:sp>
        <p:nvSpPr>
          <p:cNvPr id="3" name="Shape 1"/>
          <p:cNvSpPr/>
          <p:nvPr/>
        </p:nvSpPr>
        <p:spPr>
          <a:xfrm>
            <a:off x="457200" y="1143000"/>
            <a:ext cx="640080" cy="640080"/>
          </a:xfrm>
          <a:prstGeom prst="ellipse">
            <a:avLst/>
          </a:prstGeom>
          <a:solidFill>
            <a:srgbClr val="0F766E"/>
          </a:solidFill>
          <a:ln w="12700">
            <a:solidFill>
              <a:srgbClr val="0F766E"/>
            </a:solidFill>
            <a:prstDash val="solid"/>
          </a:ln>
        </p:spPr>
      </p:sp>
      <p:pic>
        <p:nvPicPr>
          <p:cNvPr id="4" name="Image 0" descr="preencoded.png">    </p:cNvPr>
          <p:cNvPicPr>
            <a:picLocks noChangeAspect="1"/>
          </p:cNvPicPr>
          <p:nvPr/>
        </p:nvPicPr>
        <p:blipFill>
          <a:blip r:embed="rId1"/>
          <a:stretch>
            <a:fillRect/>
          </a:stretch>
        </p:blipFill>
        <p:spPr>
          <a:xfrm>
            <a:off x="617220" y="1303020"/>
            <a:ext cx="320040" cy="320040"/>
          </a:xfrm>
          <a:prstGeom prst="rect">
            <a:avLst/>
          </a:prstGeom>
        </p:spPr>
      </p:pic>
      <p:sp>
        <p:nvSpPr>
          <p:cNvPr id="5" name="Text 2"/>
          <p:cNvSpPr txBox="1"/>
          <p:nvPr/>
        </p:nvSpPr>
        <p:spPr>
          <a:xfrm>
            <a:off x="1280160" y="1161288"/>
            <a:ext cx="3200400" cy="32004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Data layers</a:t>
            </a:r>
            <a:endParaRPr lang="en-US" sz="1600" dirty="0"/>
          </a:p>
        </p:txBody>
      </p:sp>
      <p:sp>
        <p:nvSpPr>
          <p:cNvPr id="6" name="Text 3"/>
          <p:cNvSpPr txBox="1"/>
          <p:nvPr/>
        </p:nvSpPr>
        <p:spPr>
          <a:xfrm>
            <a:off x="1280160" y="1490472"/>
            <a:ext cx="3200400" cy="274320"/>
          </a:xfrm>
          <a:prstGeom prst="rect">
            <a:avLst/>
          </a:prstGeom>
          <a:noFill/>
          <a:ln/>
        </p:spPr>
        <p:txBody>
          <a:bodyPr wrap="square" lIns="0" tIns="0" rIns="0" bIns="0" rtlCol="0" anchor="t"/>
          <a:lstStyle/>
          <a:p>
            <a:pPr indent="0" marL="0">
              <a:buNone/>
            </a:pPr>
            <a:r>
              <a:rPr lang="en-US" sz="1300" dirty="0">
                <a:solidFill>
                  <a:srgbClr val="5B6B6A"/>
                </a:solidFill>
                <a:latin typeface="Calibri" pitchFamily="34" charset="0"/>
                <a:ea typeface="Calibri" pitchFamily="34" charset="-122"/>
                <a:cs typeface="Calibri" pitchFamily="34" charset="-120"/>
              </a:rPr>
              <a:t>raw → staging → mart</a:t>
            </a:r>
            <a:endParaRPr lang="en-US" sz="1300" dirty="0"/>
          </a:p>
        </p:txBody>
      </p:sp>
      <p:sp>
        <p:nvSpPr>
          <p:cNvPr id="7" name="Shape 4"/>
          <p:cNvSpPr/>
          <p:nvPr/>
        </p:nvSpPr>
        <p:spPr>
          <a:xfrm>
            <a:off x="4663440" y="1143000"/>
            <a:ext cx="640080" cy="640080"/>
          </a:xfrm>
          <a:prstGeom prst="ellipse">
            <a:avLst/>
          </a:prstGeom>
          <a:solidFill>
            <a:srgbClr val="0F766E"/>
          </a:solidFill>
          <a:ln w="12700">
            <a:solidFill>
              <a:srgbClr val="0F766E"/>
            </a:solidFill>
            <a:prstDash val="solid"/>
          </a:ln>
        </p:spPr>
      </p:sp>
      <p:pic>
        <p:nvPicPr>
          <p:cNvPr id="8" name="Image 1" descr="preencoded.png">    </p:cNvPr>
          <p:cNvPicPr>
            <a:picLocks noChangeAspect="1"/>
          </p:cNvPicPr>
          <p:nvPr/>
        </p:nvPicPr>
        <p:blipFill>
          <a:blip r:embed="rId2"/>
          <a:stretch>
            <a:fillRect/>
          </a:stretch>
        </p:blipFill>
        <p:spPr>
          <a:xfrm>
            <a:off x="4823460" y="1303020"/>
            <a:ext cx="320040" cy="320040"/>
          </a:xfrm>
          <a:prstGeom prst="rect">
            <a:avLst/>
          </a:prstGeom>
        </p:spPr>
      </p:pic>
      <p:sp>
        <p:nvSpPr>
          <p:cNvPr id="9" name="Text 5"/>
          <p:cNvSpPr txBox="1"/>
          <p:nvPr/>
        </p:nvSpPr>
        <p:spPr>
          <a:xfrm>
            <a:off x="5486400" y="1161288"/>
            <a:ext cx="3200400" cy="32004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Scheduling</a:t>
            </a:r>
            <a:endParaRPr lang="en-US" sz="1600" dirty="0"/>
          </a:p>
        </p:txBody>
      </p:sp>
      <p:sp>
        <p:nvSpPr>
          <p:cNvPr id="10" name="Text 6"/>
          <p:cNvSpPr txBox="1"/>
          <p:nvPr/>
        </p:nvSpPr>
        <p:spPr>
          <a:xfrm>
            <a:off x="5486400" y="1490472"/>
            <a:ext cx="3200400" cy="274320"/>
          </a:xfrm>
          <a:prstGeom prst="rect">
            <a:avLst/>
          </a:prstGeom>
          <a:noFill/>
          <a:ln/>
        </p:spPr>
        <p:txBody>
          <a:bodyPr wrap="square" lIns="0" tIns="0" rIns="0" bIns="0" rtlCol="0" anchor="t"/>
          <a:lstStyle/>
          <a:p>
            <a:pPr indent="0" marL="0">
              <a:buNone/>
            </a:pPr>
            <a:r>
              <a:rPr lang="en-US" sz="1300" dirty="0">
                <a:solidFill>
                  <a:srgbClr val="5B6B6A"/>
                </a:solidFill>
                <a:latin typeface="Calibri" pitchFamily="34" charset="0"/>
                <a:ea typeface="Calibri" pitchFamily="34" charset="-122"/>
                <a:cs typeface="Calibri" pitchFamily="34" charset="-120"/>
              </a:rPr>
              <a:t>cron, Airflow, Prefect</a:t>
            </a:r>
            <a:endParaRPr lang="en-US" sz="1300" dirty="0"/>
          </a:p>
        </p:txBody>
      </p:sp>
      <p:sp>
        <p:nvSpPr>
          <p:cNvPr id="11" name="Shape 7"/>
          <p:cNvSpPr/>
          <p:nvPr/>
        </p:nvSpPr>
        <p:spPr>
          <a:xfrm>
            <a:off x="457200" y="2240280"/>
            <a:ext cx="640080" cy="640080"/>
          </a:xfrm>
          <a:prstGeom prst="ellipse">
            <a:avLst/>
          </a:prstGeom>
          <a:solidFill>
            <a:srgbClr val="0F766E"/>
          </a:solidFill>
          <a:ln w="12700">
            <a:solidFill>
              <a:srgbClr val="0F766E"/>
            </a:solidFill>
            <a:prstDash val="solid"/>
          </a:ln>
        </p:spPr>
      </p:sp>
      <p:pic>
        <p:nvPicPr>
          <p:cNvPr id="12" name="Image 2" descr="preencoded.png">    </p:cNvPr>
          <p:cNvPicPr>
            <a:picLocks noChangeAspect="1"/>
          </p:cNvPicPr>
          <p:nvPr/>
        </p:nvPicPr>
        <p:blipFill>
          <a:blip r:embed="rId3"/>
          <a:stretch>
            <a:fillRect/>
          </a:stretch>
        </p:blipFill>
        <p:spPr>
          <a:xfrm>
            <a:off x="617220" y="2400300"/>
            <a:ext cx="320040" cy="320040"/>
          </a:xfrm>
          <a:prstGeom prst="rect">
            <a:avLst/>
          </a:prstGeom>
        </p:spPr>
      </p:pic>
      <p:sp>
        <p:nvSpPr>
          <p:cNvPr id="13" name="Text 8"/>
          <p:cNvSpPr txBox="1"/>
          <p:nvPr/>
        </p:nvSpPr>
        <p:spPr>
          <a:xfrm>
            <a:off x="1280160" y="2258568"/>
            <a:ext cx="3200400" cy="32004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Logging</a:t>
            </a:r>
            <a:endParaRPr lang="en-US" sz="1600" dirty="0"/>
          </a:p>
        </p:txBody>
      </p:sp>
      <p:sp>
        <p:nvSpPr>
          <p:cNvPr id="14" name="Text 9"/>
          <p:cNvSpPr txBox="1"/>
          <p:nvPr/>
        </p:nvSpPr>
        <p:spPr>
          <a:xfrm>
            <a:off x="1280160" y="2587752"/>
            <a:ext cx="3200400" cy="274320"/>
          </a:xfrm>
          <a:prstGeom prst="rect">
            <a:avLst/>
          </a:prstGeom>
          <a:noFill/>
          <a:ln/>
        </p:spPr>
        <p:txBody>
          <a:bodyPr wrap="square" lIns="0" tIns="0" rIns="0" bIns="0" rtlCol="0" anchor="t"/>
          <a:lstStyle/>
          <a:p>
            <a:pPr indent="0" marL="0">
              <a:buNone/>
            </a:pPr>
            <a:r>
              <a:rPr lang="en-US" sz="1300" dirty="0">
                <a:solidFill>
                  <a:srgbClr val="5B6B6A"/>
                </a:solidFill>
                <a:latin typeface="Calibri" pitchFamily="34" charset="0"/>
                <a:ea typeface="Calibri" pitchFamily="34" charset="-122"/>
                <a:cs typeface="Calibri" pitchFamily="34" charset="-120"/>
              </a:rPr>
              <a:t>record every stage &amp; its duration</a:t>
            </a:r>
            <a:endParaRPr lang="en-US" sz="1300" dirty="0"/>
          </a:p>
        </p:txBody>
      </p:sp>
      <p:sp>
        <p:nvSpPr>
          <p:cNvPr id="15" name="Shape 10"/>
          <p:cNvSpPr/>
          <p:nvPr/>
        </p:nvSpPr>
        <p:spPr>
          <a:xfrm>
            <a:off x="4663440" y="2240280"/>
            <a:ext cx="640080" cy="640080"/>
          </a:xfrm>
          <a:prstGeom prst="ellipse">
            <a:avLst/>
          </a:prstGeom>
          <a:solidFill>
            <a:srgbClr val="0F766E"/>
          </a:solidFill>
          <a:ln w="12700">
            <a:solidFill>
              <a:srgbClr val="0F766E"/>
            </a:solidFill>
            <a:prstDash val="solid"/>
          </a:ln>
        </p:spPr>
      </p:sp>
      <p:pic>
        <p:nvPicPr>
          <p:cNvPr id="16" name="Image 3" descr="preencoded.png">    </p:cNvPr>
          <p:cNvPicPr>
            <a:picLocks noChangeAspect="1"/>
          </p:cNvPicPr>
          <p:nvPr/>
        </p:nvPicPr>
        <p:blipFill>
          <a:blip r:embed="rId4"/>
          <a:stretch>
            <a:fillRect/>
          </a:stretch>
        </p:blipFill>
        <p:spPr>
          <a:xfrm>
            <a:off x="4823460" y="2400300"/>
            <a:ext cx="320040" cy="320040"/>
          </a:xfrm>
          <a:prstGeom prst="rect">
            <a:avLst/>
          </a:prstGeom>
        </p:spPr>
      </p:pic>
      <p:sp>
        <p:nvSpPr>
          <p:cNvPr id="17" name="Text 11"/>
          <p:cNvSpPr txBox="1"/>
          <p:nvPr/>
        </p:nvSpPr>
        <p:spPr>
          <a:xfrm>
            <a:off x="5486400" y="2258568"/>
            <a:ext cx="3200400" cy="32004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Validation</a:t>
            </a:r>
            <a:endParaRPr lang="en-US" sz="1600" dirty="0"/>
          </a:p>
        </p:txBody>
      </p:sp>
      <p:sp>
        <p:nvSpPr>
          <p:cNvPr id="18" name="Text 12"/>
          <p:cNvSpPr txBox="1"/>
          <p:nvPr/>
        </p:nvSpPr>
        <p:spPr>
          <a:xfrm>
            <a:off x="5486400" y="2587752"/>
            <a:ext cx="3200400" cy="274320"/>
          </a:xfrm>
          <a:prstGeom prst="rect">
            <a:avLst/>
          </a:prstGeom>
          <a:noFill/>
          <a:ln/>
        </p:spPr>
        <p:txBody>
          <a:bodyPr wrap="square" lIns="0" tIns="0" rIns="0" bIns="0" rtlCol="0" anchor="t"/>
          <a:lstStyle/>
          <a:p>
            <a:pPr indent="0" marL="0">
              <a:buNone/>
            </a:pPr>
            <a:r>
              <a:rPr lang="en-US" sz="1300" dirty="0">
                <a:solidFill>
                  <a:srgbClr val="5B6B6A"/>
                </a:solidFill>
                <a:latin typeface="Calibri" pitchFamily="34" charset="0"/>
                <a:ea typeface="Calibri" pitchFamily="34" charset="-122"/>
                <a:cs typeface="Calibri" pitchFamily="34" charset="-120"/>
              </a:rPr>
              <a:t>check quality before loading</a:t>
            </a:r>
            <a:endParaRPr lang="en-US" sz="1300" dirty="0"/>
          </a:p>
        </p:txBody>
      </p:sp>
      <p:sp>
        <p:nvSpPr>
          <p:cNvPr id="19" name="Shape 13"/>
          <p:cNvSpPr/>
          <p:nvPr/>
        </p:nvSpPr>
        <p:spPr>
          <a:xfrm>
            <a:off x="457200" y="3337560"/>
            <a:ext cx="640080" cy="640080"/>
          </a:xfrm>
          <a:prstGeom prst="ellipse">
            <a:avLst/>
          </a:prstGeom>
          <a:solidFill>
            <a:srgbClr val="0F766E"/>
          </a:solidFill>
          <a:ln w="12700">
            <a:solidFill>
              <a:srgbClr val="0F766E"/>
            </a:solidFill>
            <a:prstDash val="solid"/>
          </a:ln>
        </p:spPr>
      </p:sp>
      <p:pic>
        <p:nvPicPr>
          <p:cNvPr id="20" name="Image 4" descr="preencoded.png">    </p:cNvPr>
          <p:cNvPicPr>
            <a:picLocks noChangeAspect="1"/>
          </p:cNvPicPr>
          <p:nvPr/>
        </p:nvPicPr>
        <p:blipFill>
          <a:blip r:embed="rId5"/>
          <a:stretch>
            <a:fillRect/>
          </a:stretch>
        </p:blipFill>
        <p:spPr>
          <a:xfrm>
            <a:off x="617220" y="3497580"/>
            <a:ext cx="320040" cy="320040"/>
          </a:xfrm>
          <a:prstGeom prst="rect">
            <a:avLst/>
          </a:prstGeom>
        </p:spPr>
      </p:pic>
      <p:sp>
        <p:nvSpPr>
          <p:cNvPr id="21" name="Text 14"/>
          <p:cNvSpPr txBox="1"/>
          <p:nvPr/>
        </p:nvSpPr>
        <p:spPr>
          <a:xfrm>
            <a:off x="1280160" y="3355848"/>
            <a:ext cx="3200400" cy="32004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Monitoring</a:t>
            </a:r>
            <a:endParaRPr lang="en-US" sz="1600" dirty="0"/>
          </a:p>
        </p:txBody>
      </p:sp>
      <p:sp>
        <p:nvSpPr>
          <p:cNvPr id="22" name="Text 15"/>
          <p:cNvSpPr txBox="1"/>
          <p:nvPr/>
        </p:nvSpPr>
        <p:spPr>
          <a:xfrm>
            <a:off x="1280160" y="3685032"/>
            <a:ext cx="3200400" cy="274320"/>
          </a:xfrm>
          <a:prstGeom prst="rect">
            <a:avLst/>
          </a:prstGeom>
          <a:noFill/>
          <a:ln/>
        </p:spPr>
        <p:txBody>
          <a:bodyPr wrap="square" lIns="0" tIns="0" rIns="0" bIns="0" rtlCol="0" anchor="t"/>
          <a:lstStyle/>
          <a:p>
            <a:pPr indent="0" marL="0">
              <a:buNone/>
            </a:pPr>
            <a:r>
              <a:rPr lang="en-US" sz="1300" dirty="0">
                <a:solidFill>
                  <a:srgbClr val="5B6B6A"/>
                </a:solidFill>
                <a:latin typeface="Calibri" pitchFamily="34" charset="0"/>
                <a:ea typeface="Calibri" pitchFamily="34" charset="-122"/>
                <a:cs typeface="Calibri" pitchFamily="34" charset="-120"/>
              </a:rPr>
              <a:t>alert when a pipeline fails</a:t>
            </a:r>
            <a:endParaRPr lang="en-US" sz="1300" dirty="0"/>
          </a:p>
        </p:txBody>
      </p:sp>
      <p:sp>
        <p:nvSpPr>
          <p:cNvPr id="23" name="Shape 16"/>
          <p:cNvSpPr/>
          <p:nvPr/>
        </p:nvSpPr>
        <p:spPr>
          <a:xfrm>
            <a:off x="4663440" y="3337560"/>
            <a:ext cx="640080" cy="640080"/>
          </a:xfrm>
          <a:prstGeom prst="ellipse">
            <a:avLst/>
          </a:prstGeom>
          <a:solidFill>
            <a:srgbClr val="0F766E"/>
          </a:solidFill>
          <a:ln w="12700">
            <a:solidFill>
              <a:srgbClr val="0F766E"/>
            </a:solidFill>
            <a:prstDash val="solid"/>
          </a:ln>
        </p:spPr>
      </p:sp>
      <p:pic>
        <p:nvPicPr>
          <p:cNvPr id="24" name="Image 5" descr="preencoded.png">    </p:cNvPr>
          <p:cNvPicPr>
            <a:picLocks noChangeAspect="1"/>
          </p:cNvPicPr>
          <p:nvPr/>
        </p:nvPicPr>
        <p:blipFill>
          <a:blip r:embed="rId6"/>
          <a:stretch>
            <a:fillRect/>
          </a:stretch>
        </p:blipFill>
        <p:spPr>
          <a:xfrm>
            <a:off x="4823460" y="3497580"/>
            <a:ext cx="320040" cy="320040"/>
          </a:xfrm>
          <a:prstGeom prst="rect">
            <a:avLst/>
          </a:prstGeom>
        </p:spPr>
      </p:pic>
      <p:sp>
        <p:nvSpPr>
          <p:cNvPr id="25" name="Text 17"/>
          <p:cNvSpPr txBox="1"/>
          <p:nvPr/>
        </p:nvSpPr>
        <p:spPr>
          <a:xfrm>
            <a:off x="5486400" y="3355848"/>
            <a:ext cx="3200400" cy="320040"/>
          </a:xfrm>
          <a:prstGeom prst="rect">
            <a:avLst/>
          </a:prstGeom>
          <a:noFill/>
          <a:ln/>
        </p:spPr>
        <p:txBody>
          <a:bodyPr wrap="square" lIns="0" tIns="0" rIns="0" bIns="0" rtlCol="0" anchor="t"/>
          <a:lstStyle/>
          <a:p>
            <a:pPr indent="0" marL="0">
              <a:buNone/>
            </a:pPr>
            <a:r>
              <a:rPr lang="en-US" sz="1600" b="1" dirty="0">
                <a:solidFill>
                  <a:srgbClr val="0B2B2A"/>
                </a:solidFill>
                <a:latin typeface="Calibri" pitchFamily="34" charset="0"/>
                <a:ea typeface="Calibri" pitchFamily="34" charset="-122"/>
                <a:cs typeface="Calibri" pitchFamily="34" charset="-120"/>
              </a:rPr>
              <a:t>Version control</a:t>
            </a:r>
            <a:endParaRPr lang="en-US" sz="1600" dirty="0"/>
          </a:p>
        </p:txBody>
      </p:sp>
      <p:sp>
        <p:nvSpPr>
          <p:cNvPr id="26" name="Text 18"/>
          <p:cNvSpPr txBox="1"/>
          <p:nvPr/>
        </p:nvSpPr>
        <p:spPr>
          <a:xfrm>
            <a:off x="5486400" y="3685032"/>
            <a:ext cx="3200400" cy="274320"/>
          </a:xfrm>
          <a:prstGeom prst="rect">
            <a:avLst/>
          </a:prstGeom>
          <a:noFill/>
          <a:ln/>
        </p:spPr>
        <p:txBody>
          <a:bodyPr wrap="square" lIns="0" tIns="0" rIns="0" bIns="0" rtlCol="0" anchor="t"/>
          <a:lstStyle/>
          <a:p>
            <a:pPr indent="0" marL="0">
              <a:buNone/>
            </a:pPr>
            <a:r>
              <a:rPr lang="en-US" sz="1300" dirty="0">
                <a:solidFill>
                  <a:srgbClr val="5B6B6A"/>
                </a:solidFill>
                <a:latin typeface="Calibri" pitchFamily="34" charset="0"/>
                <a:ea typeface="Calibri" pitchFamily="34" charset="-122"/>
                <a:cs typeface="Calibri" pitchFamily="34" charset="-120"/>
              </a:rPr>
              <a:t>Git, credentials in .env</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Mini Project</a:t>
            </a:r>
            <a:endParaRPr lang="en-US" sz="2800" dirty="0"/>
          </a:p>
        </p:txBody>
      </p:sp>
      <p:sp>
        <p:nvSpPr>
          <p:cNvPr id="3" name="Shape 1"/>
          <p:cNvSpPr/>
          <p:nvPr/>
        </p:nvSpPr>
        <p:spPr>
          <a:xfrm>
            <a:off x="457200" y="1097280"/>
            <a:ext cx="8229600" cy="777240"/>
          </a:xfrm>
          <a:prstGeom prst="roundRect">
            <a:avLst>
              <a:gd name="adj" fmla="val 14118"/>
            </a:avLst>
          </a:prstGeom>
          <a:solidFill>
            <a:srgbClr val="082F2D"/>
          </a:solidFill>
          <a:ln w="12700">
            <a:solidFill>
              <a:srgbClr val="082F2D"/>
            </a:solidFill>
            <a:prstDash val="solid"/>
          </a:ln>
        </p:spPr>
      </p:sp>
      <p:sp>
        <p:nvSpPr>
          <p:cNvPr id="4" name="Text 2"/>
          <p:cNvSpPr txBox="1"/>
          <p:nvPr/>
        </p:nvSpPr>
        <p:spPr>
          <a:xfrm>
            <a:off x="685800" y="1207008"/>
            <a:ext cx="777240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Which customer segment was most profitable in Q2 2026, how did it trend, and who are the biggest customers?</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937760" y="2103120"/>
          <a:ext cx="3749040" cy="914400"/>
        </p:xfrm>
        <a:graphic>
          <a:graphicData uri="http://schemas.openxmlformats.org/drawingml/2006/table">
            <a:tbl>
              <a:tblPr/>
              <a:tblGrid>
                <a:gridCol w="2743200"/>
                <a:gridCol w="10058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Criteria</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Weight</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solidFill>
                      <a:srgbClr val="0F766E"/>
                    </a:solidFill>
                  </a:tcPr>
                </a:tc>
              </a:tr>
              <a:tr h="411480">
                <a:tc>
                  <a:txBody>
                    <a:bodyPr/>
                    <a:lstStyle/>
                    <a:p>
                      <a:pPr indent="0" marL="0">
                        <a:buNone/>
                      </a:pPr>
                      <a:r>
                        <a:rPr lang="en-US" sz="1300" dirty="0">
                          <a:solidFill>
                            <a:srgbClr val="0B2B2A"/>
                          </a:solidFill>
                          <a:latin typeface="Calibri" pitchFamily="34" charset="0"/>
                          <a:ea typeface="Calibri" pitchFamily="34" charset="-122"/>
                          <a:cs typeface="Calibri" pitchFamily="34" charset="-120"/>
                        </a:rPr>
                        <a:t>End-to-end pipeline</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algn="r" indent="0" marL="0">
                        <a:buNone/>
                      </a:pPr>
                      <a:r>
                        <a:rPr lang="en-US" sz="1300" dirty="0">
                          <a:solidFill>
                            <a:srgbClr val="0B2B2A"/>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411480">
                <a:tc>
                  <a:txBody>
                    <a:bodyPr/>
                    <a:lstStyle/>
                    <a:p>
                      <a:pPr indent="0" marL="0">
                        <a:buNone/>
                      </a:pPr>
                      <a:r>
                        <a:rPr lang="en-US" sz="1300" dirty="0">
                          <a:solidFill>
                            <a:srgbClr val="0B2B2A"/>
                          </a:solidFill>
                          <a:latin typeface="Calibri" pitchFamily="34" charset="0"/>
                          <a:ea typeface="Calibri" pitchFamily="34" charset="-122"/>
                          <a:cs typeface="Calibri" pitchFamily="34" charset="-120"/>
                        </a:rPr>
                        <a:t>Data cleaning quality</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algn="r" indent="0" marL="0">
                        <a:buNone/>
                      </a:pPr>
                      <a:r>
                        <a:rPr lang="en-US" sz="1300" dirty="0">
                          <a:solidFill>
                            <a:srgbClr val="0B2B2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411480">
                <a:tc>
                  <a:txBody>
                    <a:bodyPr/>
                    <a:lstStyle/>
                    <a:p>
                      <a:pPr indent="0" marL="0">
                        <a:buNone/>
                      </a:pPr>
                      <a:r>
                        <a:rPr lang="en-US" sz="1300" dirty="0">
                          <a:solidFill>
                            <a:srgbClr val="0B2B2A"/>
                          </a:solidFill>
                          <a:latin typeface="Calibri" pitchFamily="34" charset="0"/>
                          <a:ea typeface="Calibri" pitchFamily="34" charset="-122"/>
                          <a:cs typeface="Calibri" pitchFamily="34" charset="-120"/>
                        </a:rPr>
                        <a:t>SQL accuracy</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algn="r" indent="0" marL="0">
                        <a:buNone/>
                      </a:pPr>
                      <a:r>
                        <a:rPr lang="en-US" sz="1300" dirty="0">
                          <a:solidFill>
                            <a:srgbClr val="0B2B2A"/>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r h="411480">
                <a:tc>
                  <a:txBody>
                    <a:bodyPr/>
                    <a:lstStyle/>
                    <a:p>
                      <a:pPr indent="0" marL="0">
                        <a:buNone/>
                      </a:pPr>
                      <a:r>
                        <a:rPr lang="en-US" sz="1300" dirty="0">
                          <a:solidFill>
                            <a:srgbClr val="0B2B2A"/>
                          </a:solidFill>
                          <a:latin typeface="Calibri" pitchFamily="34" charset="0"/>
                          <a:ea typeface="Calibri" pitchFamily="34" charset="-122"/>
                          <a:cs typeface="Calibri" pitchFamily="34" charset="-120"/>
                        </a:rPr>
                        <a:t>Dashboard &amp; insights</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c>
                  <a:txBody>
                    <a:bodyPr/>
                    <a:lstStyle/>
                    <a:p>
                      <a:pPr algn="r" indent="0" marL="0">
                        <a:buNone/>
                      </a:pPr>
                      <a:r>
                        <a:rPr lang="en-US" sz="1300" dirty="0">
                          <a:solidFill>
                            <a:srgbClr val="0B2B2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lnL w="12700" cap="flat" cmpd="sng" algn="ctr">
                      <a:solidFill>
                        <a:srgbClr val="E2E8E8"/>
                      </a:solidFill>
                      <a:prstDash val="solid"/>
                      <a:round/>
                      <a:headEnd type="none" w="med" len="med"/>
                      <a:tailEnd type="none" w="med" len="med"/>
                    </a:lnL>
                    <a:lnR w="12700" cap="flat" cmpd="sng" algn="ctr">
                      <a:solidFill>
                        <a:srgbClr val="E2E8E8"/>
                      </a:solidFill>
                      <a:prstDash val="solid"/>
                      <a:round/>
                      <a:headEnd type="none" w="med" len="med"/>
                      <a:tailEnd type="none" w="med" len="med"/>
                    </a:lnR>
                    <a:lnT w="12700" cap="flat" cmpd="sng" algn="ctr">
                      <a:solidFill>
                        <a:srgbClr val="E2E8E8"/>
                      </a:solidFill>
                      <a:prstDash val="solid"/>
                      <a:round/>
                      <a:headEnd type="none" w="med" len="med"/>
                      <a:tailEnd type="none" w="med" len="med"/>
                    </a:lnT>
                    <a:lnB w="12700" cap="flat" cmpd="sng" algn="ctr">
                      <a:solidFill>
                        <a:srgbClr val="E2E8E8"/>
                      </a:solidFill>
                      <a:prstDash val="solid"/>
                      <a:round/>
                      <a:headEnd type="none" w="med" len="med"/>
                      <a:tailEnd type="none" w="med" len="med"/>
                    </a:lnB>
                  </a:tcPr>
                </a:tc>
              </a:tr>
            </a:tbl>
          </a:graphicData>
        </a:graphic>
      </p:graphicFrame>
      <p:sp>
        <p:nvSpPr>
          <p:cNvPr id="6" name="Text 3"/>
          <p:cNvSpPr txBox="1"/>
          <p:nvPr/>
        </p:nvSpPr>
        <p:spPr>
          <a:xfrm>
            <a:off x="457200" y="2103120"/>
            <a:ext cx="42062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2B2A"/>
                </a:solidFill>
              </a:rPr>
              <a:t>Data: Q2 sales + customers (api/static or data/)</a:t>
            </a:r>
            <a:endParaRPr lang="en-US" sz="1400" dirty="0"/>
          </a:p>
          <a:p>
            <a:pPr marL="342900" indent="-342900">
              <a:spcAft>
                <a:spcPts val="800"/>
              </a:spcAft>
              <a:buSzPct val="100000"/>
              <a:buChar char="•"/>
            </a:pPr>
            <a:r>
              <a:rPr lang="en-US" sz="1400" dirty="0">
                <a:solidFill>
                  <a:srgbClr val="0B2B2A"/>
                </a:solidFill>
              </a:rPr>
              <a:t>Clean and merge both sources</a:t>
            </a:r>
            <a:endParaRPr lang="en-US" sz="1400" dirty="0"/>
          </a:p>
          <a:p>
            <a:pPr marL="342900" indent="-342900">
              <a:spcAft>
                <a:spcPts val="800"/>
              </a:spcAft>
              <a:buSzPct val="100000"/>
              <a:buChar char="•"/>
            </a:pPr>
            <a:r>
              <a:rPr lang="en-US" sz="1400" dirty="0">
                <a:solidFill>
                  <a:srgbClr val="0B2B2A"/>
                </a:solidFill>
              </a:rPr>
              <a:t>Load into sales_q2_enriched</a:t>
            </a:r>
            <a:endParaRPr lang="en-US" sz="1400" dirty="0"/>
          </a:p>
          <a:p>
            <a:pPr marL="342900" indent="-342900">
              <a:spcAft>
                <a:spcPts val="800"/>
              </a:spcAft>
              <a:buSzPct val="100000"/>
              <a:buChar char="•"/>
            </a:pPr>
            <a:r>
              <a:rPr lang="en-US" sz="1400" dirty="0">
                <a:solidFill>
                  <a:srgbClr val="0B2B2A"/>
                </a:solidFill>
              </a:rPr>
              <a:t>3 queries + 3 visuals + insights</a:t>
            </a:r>
            <a:endParaRPr lang="en-US" sz="1400" dirty="0"/>
          </a:p>
          <a:p>
            <a:pPr marL="342900" indent="-342900">
              <a:spcAft>
                <a:spcPts val="800"/>
              </a:spcAft>
              <a:buSzPct val="100000"/>
              <a:buChar char="•"/>
            </a:pPr>
            <a:r>
              <a:rPr lang="en-US" sz="1400" dirty="0">
                <a:solidFill>
                  <a:srgbClr val="0B2B2A"/>
                </a:solidFill>
              </a:rPr>
              <a:t>Submit: commit &amp; push to your fork, share the link</a:t>
            </a:r>
            <a:endParaRPr lang="en-US" sz="1400" dirty="0"/>
          </a:p>
          <a:p>
            <a:pPr marL="342900" indent="-342900">
              <a:spcAft>
                <a:spcPts val="800"/>
              </a:spcAft>
              <a:buSzPct val="100000"/>
              <a:buChar char="•"/>
            </a:pPr>
            <a:r>
              <a:rPr lang="en-US" sz="1400" dirty="0">
                <a:solidFill>
                  <a:srgbClr val="0B2B2A"/>
                </a:solidFill>
              </a:rPr>
              <a:t>Teams of 2–3 · 60 minutes · 3-minute pitch</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Thank you — Q&amp;A</a:t>
            </a: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nchor="t"/>
          <a:lstStyle/>
          <a:p>
            <a:pPr algn="l" indent="0" marL="0">
              <a:buNone/>
            </a:pPr>
            <a:r>
              <a:rPr lang="en-US" sz="1800" dirty="0">
                <a:solidFill>
                  <a:srgbClr val="A7F3D0"/>
                </a:solidFill>
              </a:rPr>
              <a:t>Answer keys and the cheat sheet will be pushed after the session — Sync fork on GitHub, then git pull in VS Code</a:t>
            </a:r>
            <a:endParaRPr lang="en-US" sz="1800" dirty="0"/>
          </a:p>
        </p:txBody>
      </p:sp>
      <p:sp>
        <p:nvSpPr>
          <p:cNvPr id="4" name="Shape 2"/>
          <p:cNvSpPr/>
          <p:nvPr/>
        </p:nvSpPr>
        <p:spPr>
          <a:xfrm>
            <a:off x="548640" y="502920"/>
            <a:ext cx="731520" cy="73152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731520" y="685800"/>
            <a:ext cx="365760" cy="365760"/>
          </a:xfrm>
          <a:prstGeom prst="rect">
            <a:avLst/>
          </a:prstGeom>
        </p:spPr>
      </p:pic>
    </p:spTree>
  </p:cSld>
  <p:clrMapOvr>
    <a:masterClrMapping/>
  </p:clrMapOvr>
</p:sld>
</file>

<file path=ppt/theme/theme1.xml><?xml version="1.0" encoding="utf-8"?>
<a:theme xmlns:a="http://schemas.openxmlformats.org/drawingml/2006/main" name="Workshop Teal">
  <a:themeElements>
    <a:clrScheme name="Workshop Teal">
      <a:dk1>
        <a:srgbClr val="0B2B2A"/>
      </a:dk1>
      <a:lt1>
        <a:srgbClr val="FFFFFF"/>
      </a:lt1>
      <a:dk2>
        <a:srgbClr val="0F766E"/>
      </a:dk2>
      <a:lt2>
        <a:srgbClr val="F1F6F6"/>
      </a:lt2>
      <a:accent1>
        <a:srgbClr val="0F766E"/>
      </a:accent1>
      <a:accent2>
        <a:srgbClr val="F59E0B"/>
      </a:accent2>
      <a:accent3>
        <a:srgbClr val="14B8A6"/>
      </a:accent3>
      <a:accent4>
        <a:srgbClr val="94A3B8"/>
      </a:accent4>
      <a:accent5>
        <a:srgbClr val="115E59"/>
      </a:accent5>
      <a:accent6>
        <a:srgbClr val="FCD34D"/>
      </a:accent6>
      <a:hlink>
        <a:srgbClr val="0F766E"/>
      </a:hlink>
      <a:folHlink>
        <a:srgbClr val="115E59"/>
      </a:folHlink>
    </a:clrScheme>
    <a:fontScheme name="Workshop T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Simple Data Pipeline</dc:title>
  <dc:subject>PptxGenJS Presentation</dc:subject>
  <dc:creator>Aisah</dc:creator>
  <cp:lastModifiedBy>Aisah</cp:lastModifiedBy>
  <cp:revision>1</cp:revision>
  <dcterms:created xsi:type="dcterms:W3CDTF">2026-10-13T09:25:28Z</dcterms:created>
  <dcterms:modified xsi:type="dcterms:W3CDTF">2026-10-13T09:25:28Z</dcterms:modified>
</cp:coreProperties>
</file>